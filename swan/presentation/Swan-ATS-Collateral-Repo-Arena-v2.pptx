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abf9e594a14091" /><Relationship Type="http://schemas.openxmlformats.org/officeDocument/2006/relationships/extended-properties" Target="/docProps/app.xml" Id="Rd51f2e8bbbba482e" /><Relationship Type="http://schemas.openxmlformats.org/officeDocument/2006/relationships/officeDocument" Target="/ppt/presentation.xml" Id="R4f33077c3173450f" /></Relationships>
</file>

<file path=ppt/presentation.xml><?xml version="1.0" encoding="utf-8"?>
<p:presentation xmlns:p="http://schemas.openxmlformats.org/presentationml/2006/main">
  <p:sldMasterIdLst>
    <p:sldMasterId xmlns:r="http://schemas.openxmlformats.org/officeDocument/2006/relationships" id="2147483648" r:id="R0e9b68ee1a944d5e"/>
  </p:sldMasterIdLst>
  <p:notesMasterIdLst>
    <p:notesMasterId xmlns:r="http://schemas.openxmlformats.org/officeDocument/2006/relationships" r:id="R7cb89f4b57fb4ac2"/>
  </p:notesMasterIdLst>
  <p:sldIdLst>
    <p:sldId xmlns:r="http://schemas.openxmlformats.org/officeDocument/2006/relationships" id="256" r:id="Reec3ca8298dd4c85"/>
    <p:sldId xmlns:r="http://schemas.openxmlformats.org/officeDocument/2006/relationships" id="257" r:id="R0f03711b388d4606"/>
    <p:sldId xmlns:r="http://schemas.openxmlformats.org/officeDocument/2006/relationships" id="258" r:id="R76ef0efed0f24d43"/>
    <p:sldId xmlns:r="http://schemas.openxmlformats.org/officeDocument/2006/relationships" id="259" r:id="R03e75ef72bdc45f3"/>
    <p:sldId xmlns:r="http://schemas.openxmlformats.org/officeDocument/2006/relationships" id="260" r:id="R604f3cdc848e40fa"/>
    <p:sldId xmlns:r="http://schemas.openxmlformats.org/officeDocument/2006/relationships" id="261" r:id="R1672996e546d4bed"/>
    <p:sldId xmlns:r="http://schemas.openxmlformats.org/officeDocument/2006/relationships" id="262" r:id="R08d177c191904c20"/>
    <p:sldId xmlns:r="http://schemas.openxmlformats.org/officeDocument/2006/relationships" id="263" r:id="R12cea6be26814f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c46ef92aa04d2a" /><Relationship Type="http://schemas.openxmlformats.org/officeDocument/2006/relationships/slideMaster" Target="/ppt/slideMasters/slideMaster1.xml" Id="R0e9b68ee1a944d5e" /><Relationship Type="http://schemas.openxmlformats.org/officeDocument/2006/relationships/notesMaster" Target="/ppt/notesMasters/notesMaster1.xml" Id="R7cb89f4b57fb4ac2" /><Relationship Type="http://schemas.openxmlformats.org/officeDocument/2006/relationships/presProps" Target="/ppt/presProps.xml" Id="Rf78b4641270f42a0" /><Relationship Type="http://schemas.openxmlformats.org/officeDocument/2006/relationships/tableStyles" Target="/ppt/tableStyles.xml" Id="R40578bf117ac4df0" /><Relationship Type="http://schemas.openxmlformats.org/officeDocument/2006/relationships/slide" Target="/ppt/slides/slide1.xml" Id="Reec3ca8298dd4c85" /><Relationship Type="http://schemas.openxmlformats.org/officeDocument/2006/relationships/slide" Target="/ppt/slides/slide2.xml" Id="R0f03711b388d4606" /><Relationship Type="http://schemas.openxmlformats.org/officeDocument/2006/relationships/slide" Target="/ppt/slides/slide3.xml" Id="R76ef0efed0f24d43" /><Relationship Type="http://schemas.openxmlformats.org/officeDocument/2006/relationships/slide" Target="/ppt/slides/slide4.xml" Id="R03e75ef72bdc45f3" /><Relationship Type="http://schemas.openxmlformats.org/officeDocument/2006/relationships/slide" Target="/ppt/slides/slide5.xml" Id="R604f3cdc848e40fa" /><Relationship Type="http://schemas.openxmlformats.org/officeDocument/2006/relationships/slide" Target="/ppt/slides/slide6.xml" Id="R1672996e546d4bed" /><Relationship Type="http://schemas.openxmlformats.org/officeDocument/2006/relationships/slide" Target="/ppt/slides/slide7.xml" Id="R08d177c191904c20" /><Relationship Type="http://schemas.openxmlformats.org/officeDocument/2006/relationships/slide" Target="/ppt/slides/slide8.xml" Id="R12cea6be26814f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4adb0a850c41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2d53d614804451" /><Relationship Type="http://schemas.openxmlformats.org/officeDocument/2006/relationships/notesMaster" Target="/ppt/notesMasters/notesMaster1.xml" Id="Rce0f56682d1241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cfcd69b31e4235" /><Relationship Type="http://schemas.openxmlformats.org/officeDocument/2006/relationships/notesMaster" Target="/ppt/notesMasters/notesMaster1.xml" Id="R6cdc1d1e1c4f4d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e29a08d36f4b0e" /><Relationship Type="http://schemas.openxmlformats.org/officeDocument/2006/relationships/notesMaster" Target="/ppt/notesMasters/notesMaster1.xml" Id="R4f5e2845891c41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228d967f5244cd" /><Relationship Type="http://schemas.openxmlformats.org/officeDocument/2006/relationships/notesMaster" Target="/ppt/notesMasters/notesMaster1.xml" Id="R1d72d27d65de46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4300ec0fb24685" /><Relationship Type="http://schemas.openxmlformats.org/officeDocument/2006/relationships/notesMaster" Target="/ppt/notesMasters/notesMaster1.xml" Id="Rd51a5a68dc584c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ee1209506f4fe2" /><Relationship Type="http://schemas.openxmlformats.org/officeDocument/2006/relationships/notesMaster" Target="/ppt/notesMasters/notesMaster1.xml" Id="Ra963a096822346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49f42990f742d7" /><Relationship Type="http://schemas.openxmlformats.org/officeDocument/2006/relationships/notesMaster" Target="/ppt/notesMasters/notesMaster1.xml" Id="R82d9cb486e614b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06fef808d7482b" /><Relationship Type="http://schemas.openxmlformats.org/officeDocument/2006/relationships/notesMaster" Target="/ppt/notesMasters/notesMaster1.xml" Id="R2dee38ef6f3e4e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Swan mobilizes ATS-issued bonds as repo collateral. The product joins compliance, funding, risk management, coupon treatment, closing, and liquidation in one demonstrable lifecycle.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BIS describes collateral workflows that validate access rights, check eligibility and haircut value, exchange collateral for cash, reprice continuously, permit substitution, and release assets at maturity. BIS Annual Economic Report 2025: https://www.bis.org/publications/aer-2025/next-generation-monetary-financial-system</a:t>
            </a:r>
          </a:p>
          <a:p xmlns:a="http://schemas.openxmlformats.org/drawingml/2006/main">
            <a:r>
              <a:t>ICMA Digital Bonds Annex: https://www.icmagroup.org/News/news-in-brief/icma-publishes-the-digital-bonds-annex-an-addition-to-the-gmra-digital-assets-annex/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uses one unit each of USTB-28, GRNB-30, MUNI-31, and NSCR-29. Prices are 1.00, 0.98, 0.95, and 1.02 USDC with haircuts of 2%, 8%, 15%, and 20%. Post-haircut capacity equals 3.5051 USDC, displayed as 3.51 USDC.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KYC means know your customer. DvP means delivery versus payment. Swan checks ATS KYC, pause, freeze, balances, and canTransferFrom before moving a bond. The signed oracle rejects stale, future, forged, and replayed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implementation uses a three-minute oracle freshness window, a three-minute lender funding window, a five-minute margin cure window, a ten-minute demo maturity, and a ninety-second auction window.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fictional testnet series are USTB-28, GRNB-30, MUNI-31, and NSCR-29. Cash settlement uses official Hedera testnet USDC. The implementation does not use Inco. Deployment references live in swan/deployments/hedera-testnet.json. Hedera scheduled transactions: https://docs.hedera.com/hedera/core-concepts/scheduled-transaction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practice layer teaches basket optimization, lender competition, margin response, and compliant liquidation. The live panels execute the same concepts against deployed Hedera contracts. Default is an intentional branch, not a cosmetic failure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live sequence: Book KYC. Bonds load basket, approve basket, sign fresh prices, request repo. Pond Wallet B approves USDC and offers a rate within three minutes, then opens after the deadline. Care Wallet A applies the price storm. For a cure, approve repayment cash and repay 0.5 USDC. For default, wait five minutes, declare default, refresh sale prices, switch to Wallet B, and route default within three minutes. Wallet A approves bid cash and bids 1.05 USDC. After ninety seconds, close and settle DvP. Finish in Book with HashScan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21d2eda0d14b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b0e19365a34593" /><Relationship Type="http://schemas.openxmlformats.org/officeDocument/2006/relationships/slideLayout" Target="/ppt/slideLayouts/slideLayout1.xml" Id="R165d3155e6a94e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5d3155e6a94e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4a3fddf1b542f9" /><Relationship Type="http://schemas.openxmlformats.org/officeDocument/2006/relationships/image" Target="/ppt/media/image.png" Id="R4690586288754e00" /><Relationship Type="http://schemas.openxmlformats.org/officeDocument/2006/relationships/notesSlide" Target="/ppt/notesSlides/notesSlide1.xml" Id="R4e1a1dd9a8ad46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260e0b53214224" /><Relationship Type="http://schemas.openxmlformats.org/officeDocument/2006/relationships/notesSlide" Target="/ppt/notesSlides/notesSlide2.xml" Id="R2c35e4916b1943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342f61ce6044e8" /><Relationship Type="http://schemas.openxmlformats.org/officeDocument/2006/relationships/notesSlide" Target="/ppt/notesSlides/notesSlide3.xml" Id="R5bc7e4dcbabe47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ac621104304516" /><Relationship Type="http://schemas.openxmlformats.org/officeDocument/2006/relationships/notesSlide" Target="/ppt/notesSlides/notesSlide4.xml" Id="R723748324e1543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04c9b5e7334635" /><Relationship Type="http://schemas.openxmlformats.org/officeDocument/2006/relationships/notesSlide" Target="/ppt/notesSlides/notesSlide5.xml" Id="R26abf7e4c4844b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7d4334b2fb44d5" /><Relationship Type="http://schemas.openxmlformats.org/officeDocument/2006/relationships/notesSlide" Target="/ppt/notesSlides/notesSlide6.xml" Id="R16816a262f854d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e0f87088bfd4b79" /><Relationship Type="http://schemas.openxmlformats.org/officeDocument/2006/relationships/notesSlide" Target="/ppt/notesSlides/notesSlide7.xml" Id="R889957799e494e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3cf762345d45c2" /><Relationship Type="http://schemas.openxmlformats.org/officeDocument/2006/relationships/notesSlide" Target="/ppt/notesSlides/notesSlide8.xml" Id="Rd5c71984570d418c" /></Relationships>
</file>

<file path=ppt/slides/slide1.xml><?xml version="1.0" encoding="utf-8"?>
<p:sld xmlns:p="http://schemas.openxmlformats.org/presentationml/2006/main">
  <p:cSld>
    <p:bg>
      <p:bgPr>
        <a:solidFill xmlns:a="http://schemas.openxmlformats.org/drawingml/2006/main">
          <a:srgbClr val="17181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B2A52A-0304-495A-9B57-27C23F85897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2" name="">
            <a:extLst xmlns:a="http://schemas.openxmlformats.org/drawingml/2006/main">
              <a:ext uri="{FF2B5EF4-FFF2-40B4-BE49-F238E27FC236}">
                <a16:creationId xmlns:a16="http://schemas.microsoft.com/office/drawing/2014/main" id="{94AB4884-B78B-4EC9-AFC5-4D6D49A3ADAE}"/>
              </a:ext>
            </a:extLst>
          </p:cNvPr>
          <p:cNvSpPr>
            <a:spLocks xmlns:a="http://schemas.openxmlformats.org/drawingml/2006/main" noGrp="1"/>
          </p:cNvSpPr>
          <p:nvPr/>
        </p:nvSpPr>
        <p:spPr>
          <a:xfrm xmlns:a="http://schemas.openxmlformats.org/drawingml/2006/main">
            <a:off x="762000" y="552450"/>
            <a:ext cx="304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E99B57"/>
                </a:solidFill>
                <a:latin typeface="DIN Condensed"/>
                <a:ea typeface="DIN Condensed"/>
                <a:cs typeface="DIN Condensed"/>
              </a:defRPr>
            </a:pPr>
            <a:r>
              <a:rPr sz="2700" b="1">
                <a:solidFill>
                  <a:srgbClr val="E99B57"/>
                </a:solidFill>
                <a:latin typeface="DIN Condensed"/>
                <a:ea typeface="DIN Condensed"/>
                <a:cs typeface="DIN Condensed"/>
              </a:rPr>
              <a:t>SWAN</a:t>
            </a:r>
          </a:p>
        </p:txBody>
      </p:sp>
      <p:sp>
        <p:nvSpPr>
          <p:cNvPr id="3" name="">
            <a:extLst xmlns:a="http://schemas.openxmlformats.org/drawingml/2006/main">
              <a:ext uri="{FF2B5EF4-FFF2-40B4-BE49-F238E27FC236}">
                <a16:creationId xmlns:a16="http://schemas.microsoft.com/office/drawing/2014/main" id="{0D03FADD-D8F9-439A-9790-C1706C671936}"/>
              </a:ext>
            </a:extLst>
          </p:cNvPr>
          <p:cNvSpPr>
            <a:spLocks xmlns:a="http://schemas.openxmlformats.org/drawingml/2006/main" noGrp="1"/>
          </p:cNvSpPr>
          <p:nvPr/>
        </p:nvSpPr>
        <p:spPr>
          <a:xfrm xmlns:a="http://schemas.openxmlformats.org/drawingml/2006/main">
            <a:off x="762000" y="1219200"/>
            <a:ext cx="657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F4F2E6"/>
                </a:solidFill>
                <a:latin typeface="DIN Condensed"/>
                <a:ea typeface="DIN Condensed"/>
                <a:cs typeface="DIN Condensed"/>
              </a:defRPr>
            </a:pPr>
            <a:r>
              <a:rPr sz="5400" b="1">
                <a:solidFill>
                  <a:srgbClr val="F4F2E6"/>
                </a:solidFill>
                <a:latin typeface="DIN Condensed"/>
                <a:ea typeface="DIN Condensed"/>
                <a:cs typeface="DIN Condensed"/>
              </a:rPr>
              <a:t>ATS Collateral</a:t>
            </a:r>
          </a:p>
          <a:p xmlns:a="http://schemas.openxmlformats.org/drawingml/2006/main">
            <a:pPr algn="l">
              <a:defRPr sz="5400" b="1">
                <a:solidFill>
                  <a:srgbClr val="F4F2E6"/>
                </a:solidFill>
                <a:latin typeface="DIN Condensed"/>
                <a:ea typeface="DIN Condensed"/>
                <a:cs typeface="DIN Condensed"/>
              </a:defRPr>
            </a:pPr>
            <a:r>
              <a:rPr sz="5400" b="1">
                <a:solidFill>
                  <a:srgbClr val="F4F2E6"/>
                </a:solidFill>
                <a:latin typeface="DIN Condensed"/>
                <a:ea typeface="DIN Condensed"/>
                <a:cs typeface="DIN Condensed"/>
              </a:rPr>
              <a:t>&amp; Repo Arena</a:t>
            </a:r>
          </a:p>
        </p:txBody>
      </p:sp>
      <p:sp>
        <p:nvSpPr>
          <p:cNvPr id="4" name="">
            <a:extLst xmlns:a="http://schemas.openxmlformats.org/drawingml/2006/main">
              <a:ext uri="{FF2B5EF4-FFF2-40B4-BE49-F238E27FC236}">
                <a16:creationId xmlns:a16="http://schemas.microsoft.com/office/drawing/2014/main" id="{EC6A511A-1FAE-4834-9AC6-FDA04B9E46A9}"/>
              </a:ext>
            </a:extLst>
          </p:cNvPr>
          <p:cNvSpPr>
            <a:spLocks xmlns:a="http://schemas.openxmlformats.org/drawingml/2006/main" noGrp="1"/>
          </p:cNvSpPr>
          <p:nvPr/>
        </p:nvSpPr>
        <p:spPr>
          <a:xfrm xmlns:a="http://schemas.openxmlformats.org/drawingml/2006/main">
            <a:off x="781050" y="3124200"/>
            <a:ext cx="685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CFE0CC"/>
                </a:solidFill>
                <a:latin typeface="Helvetica Neue"/>
                <a:ea typeface="Helvetica Neue"/>
                <a:cs typeface="Helvetica Neue"/>
              </a:defRPr>
            </a:pPr>
            <a:r>
              <a:rPr sz="1875" b="0">
                <a:solidFill>
                  <a:srgbClr val="CFE0CC"/>
                </a:solidFill>
                <a:latin typeface="Helvetica Neue"/>
                <a:ea typeface="Helvetica Neue"/>
                <a:cs typeface="Helvetica Neue"/>
              </a:rPr>
              <a:t>Compliant tokenized bonds become usable collateral for funding, margin management, and liquidation on Hedera.</a:t>
            </a:r>
          </a:p>
        </p:txBody>
      </p:sp>
      <p:sp>
        <p:nvSpPr>
          <p:cNvPr id="5" name="">
            <a:extLst xmlns:a="http://schemas.openxmlformats.org/drawingml/2006/main">
              <a:ext uri="{FF2B5EF4-FFF2-40B4-BE49-F238E27FC236}">
                <a16:creationId xmlns:a16="http://schemas.microsoft.com/office/drawing/2014/main" id="{3AF80580-E280-44C4-967B-7ECAD7B9D91F}"/>
              </a:ext>
            </a:extLst>
          </p:cNvPr>
          <p:cNvSpPr>
            <a:spLocks xmlns:a="http://schemas.openxmlformats.org/drawingml/2006/main" noGrp="1"/>
          </p:cNvSpPr>
          <p:nvPr/>
        </p:nvSpPr>
        <p:spPr>
          <a:xfrm xmlns:a="http://schemas.openxmlformats.org/drawingml/2006/main">
            <a:off x="781050" y="39433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FFFFF"/>
                </a:solidFill>
                <a:latin typeface="DIN Condensed"/>
                <a:ea typeface="DIN Condensed"/>
                <a:cs typeface="DIN Condensed"/>
              </a:defRPr>
            </a:pPr>
            <a:r>
              <a:rPr sz="1275" b="1">
                <a:solidFill>
                  <a:srgbClr val="FFFFFF"/>
                </a:solidFill>
                <a:latin typeface="DIN Condensed"/>
                <a:ea typeface="DIN Condensed"/>
                <a:cs typeface="DIN Condensed"/>
              </a:rPr>
              <a:t>ASSET TOKENIZATION STUDIO ON HEDERA TESTNET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690586288754e00"/>
          <a:srcRect xmlns:a="http://schemas.openxmlformats.org/drawingml/2006/main" l="40970" t="0" r="40970" b="0"/>
          <a:stretch xmlns:a="http://schemas.openxmlformats.org/drawingml/2006/main">
            <a:fillRect l="0" t="0" r="0" b="0"/>
          </a:stretch>
        </p:blipFill>
        <p:spPr>
          <a:xfrm xmlns:a="http://schemas.openxmlformats.org/drawingml/2006/main">
            <a:off x="7524750" y="742950"/>
            <a:ext cx="4095750" cy="5372100"/>
          </a:xfrm>
          <a:prstGeom xmlns:a="http://schemas.openxmlformats.org/drawingml/2006/main" prst="roundRect">
            <a:avLst>
              <a:gd name="adj" fmla="val 5581"/>
            </a:avLst>
          </a:prstGeom>
        </p:spPr>
      </p:pic>
    </p:spTree>
    <p:extLst>
      <p:ext uri="{BB962C8B-B14F-4D97-AF65-F5344CB8AC3E}">
        <p14:creationId xmlns:p14="http://schemas.microsoft.com/office/powerpoint/2010/main" val="2003449955"/>
      </p:ext>
    </p:extLst>
  </p:cSld>
</p:sld>
</file>

<file path=ppt/slides/slide2.xml><?xml version="1.0" encoding="utf-8"?>
<p:sld xmlns:p="http://schemas.openxmlformats.org/presentationml/2006/main">
  <p:cSld>
    <p:bg>
      <p:bgPr>
        <a:solidFill xmlns:a="http://schemas.openxmlformats.org/drawingml/2006/main">
          <a:srgbClr val="F4F2E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6362E70-087B-462A-A90B-320124F3133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2" name="">
            <a:extLst xmlns:a="http://schemas.openxmlformats.org/drawingml/2006/main">
              <a:ext uri="{FF2B5EF4-FFF2-40B4-BE49-F238E27FC236}">
                <a16:creationId xmlns:a16="http://schemas.microsoft.com/office/drawing/2014/main" id="{D82049B2-9E77-49E6-AFA8-E40C5859FF36}"/>
              </a:ext>
            </a:extLst>
          </p:cNvPr>
          <p:cNvSpPr>
            <a:spLocks xmlns:a="http://schemas.openxmlformats.org/drawingml/2006/main" noGrp="1"/>
          </p:cNvSpPr>
          <p:nvPr/>
        </p:nvSpPr>
        <p:spPr>
          <a:xfrm xmlns:a="http://schemas.openxmlformats.org/drawingml/2006/main">
            <a:off x="438150" y="323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9B57"/>
                </a:solidFill>
                <a:latin typeface="DIN Condensed"/>
                <a:ea typeface="DIN Condensed"/>
                <a:cs typeface="DIN Condensed"/>
              </a:defRPr>
            </a:pPr>
            <a:r>
              <a:rPr sz="1350" b="1">
                <a:solidFill>
                  <a:srgbClr val="E99B57"/>
                </a:solidFill>
                <a:latin typeface="DIN Condensed"/>
                <a:ea typeface="DIN Condensed"/>
                <a:cs typeface="DIN Condensed"/>
              </a:rPr>
              <a:t>02</a:t>
            </a:r>
          </a:p>
        </p:txBody>
      </p:sp>
      <p:sp>
        <p:nvSpPr>
          <p:cNvPr id="3" name="">
            <a:extLst xmlns:a="http://schemas.openxmlformats.org/drawingml/2006/main">
              <a:ext uri="{FF2B5EF4-FFF2-40B4-BE49-F238E27FC236}">
                <a16:creationId xmlns:a16="http://schemas.microsoft.com/office/drawing/2014/main" id="{8DBDA9B6-238D-4A6F-B8B6-8AABAD63E208}"/>
              </a:ext>
            </a:extLst>
          </p:cNvPr>
          <p:cNvSpPr>
            <a:spLocks xmlns:a="http://schemas.openxmlformats.org/drawingml/2006/main" noGrp="1"/>
          </p:cNvSpPr>
          <p:nvPr/>
        </p:nvSpPr>
        <p:spPr>
          <a:xfrm xmlns:a="http://schemas.openxmlformats.org/drawingml/2006/main">
            <a:off x="1066800" y="24765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71817"/>
                </a:solidFill>
                <a:latin typeface="DIN Condensed"/>
                <a:ea typeface="DIN Condensed"/>
                <a:cs typeface="DIN Condensed"/>
              </a:defRPr>
            </a:pPr>
            <a:r>
              <a:rPr sz="3300" b="1">
                <a:solidFill>
                  <a:srgbClr val="171817"/>
                </a:solidFill>
                <a:latin typeface="DIN Condensed"/>
                <a:ea typeface="DIN Condensed"/>
                <a:cs typeface="DIN Condensed"/>
              </a:rPr>
              <a:t>The financing gap after issuance</a:t>
            </a:r>
          </a:p>
        </p:txBody>
      </p:sp>
      <p:sp>
        <p:nvSpPr>
          <p:cNvPr id="4" name="">
            <a:extLst xmlns:a="http://schemas.openxmlformats.org/drawingml/2006/main">
              <a:ext uri="{FF2B5EF4-FFF2-40B4-BE49-F238E27FC236}">
                <a16:creationId xmlns:a16="http://schemas.microsoft.com/office/drawing/2014/main" id="{E720EC55-7CE7-4765-81FA-A917D0B086FD}"/>
              </a:ext>
            </a:extLst>
          </p:cNvPr>
          <p:cNvSpPr>
            <a:spLocks xmlns:a="http://schemas.openxmlformats.org/drawingml/2006/main" noGrp="1"/>
          </p:cNvSpPr>
          <p:nvPr/>
        </p:nvSpPr>
        <p:spPr>
          <a:xfrm xmlns:a="http://schemas.openxmlformats.org/drawingml/2006/main">
            <a:off x="1085850" y="8191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8655D"/>
                </a:solidFill>
                <a:latin typeface="Helvetica Neue"/>
                <a:ea typeface="Helvetica Neue"/>
                <a:cs typeface="Helvetica Neue"/>
              </a:defRPr>
            </a:pPr>
            <a:r>
              <a:rPr sz="1425" b="0">
                <a:solidFill>
                  <a:srgbClr val="58655D"/>
                </a:solidFill>
                <a:latin typeface="Helvetica Neue"/>
                <a:ea typeface="Helvetica Neue"/>
                <a:cs typeface="Helvetica Neue"/>
              </a:rPr>
              <a:t>A compliant digital bond still needs a collateral-use lifecycle.</a:t>
            </a:r>
          </a:p>
        </p:txBody>
      </p:sp>
      <p:sp>
        <p:nvSpPr>
          <p:cNvPr id="5" name="">
            <a:extLst xmlns:a="http://schemas.openxmlformats.org/drawingml/2006/main">
              <a:ext uri="{FF2B5EF4-FFF2-40B4-BE49-F238E27FC236}">
                <a16:creationId xmlns:a16="http://schemas.microsoft.com/office/drawing/2014/main" id="{B1EE40A2-B8EA-48BE-974C-4852EDF17448}"/>
              </a:ext>
            </a:extLst>
          </p:cNvPr>
          <p:cNvSpPr>
            <a:spLocks xmlns:a="http://schemas.openxmlformats.org/drawingml/2006/main" noGrp="1"/>
          </p:cNvSpPr>
          <p:nvPr/>
        </p:nvSpPr>
        <p:spPr>
          <a:xfrm xmlns:a="http://schemas.openxmlformats.org/drawingml/2006/main">
            <a:off x="11049000" y="3429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DIN Condensed"/>
                <a:ea typeface="DIN Condensed"/>
                <a:cs typeface="DIN Condensed"/>
              </a:defRPr>
            </a:pPr>
            <a:r>
              <a:rPr sz="1350" b="1">
                <a:solidFill>
                  <a:srgbClr val="171817"/>
                </a:solidFill>
                <a:latin typeface="DIN Condensed"/>
                <a:ea typeface="DIN Condensed"/>
                <a:cs typeface="DIN Condensed"/>
              </a:rPr>
              <a:t>SWAN</a:t>
            </a:r>
          </a:p>
        </p:txBody>
      </p:sp>
      <p:sp>
        <p:nvSpPr>
          <p:cNvPr id="6" name="">
            <a:extLst xmlns:a="http://schemas.openxmlformats.org/drawingml/2006/main">
              <a:ext uri="{FF2B5EF4-FFF2-40B4-BE49-F238E27FC236}">
                <a16:creationId xmlns:a16="http://schemas.microsoft.com/office/drawing/2014/main" id="{BAED1575-0484-4E29-A716-A6DCF1FE2F24}"/>
              </a:ext>
            </a:extLst>
          </p:cNvPr>
          <p:cNvSpPr>
            <a:spLocks xmlns:a="http://schemas.openxmlformats.org/drawingml/2006/main" noGrp="1"/>
          </p:cNvSpPr>
          <p:nvPr/>
        </p:nvSpPr>
        <p:spPr>
          <a:xfrm xmlns:a="http://schemas.openxmlformats.org/drawingml/2006/main">
            <a:off x="1066800" y="1162050"/>
            <a:ext cx="10668000" cy="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7" name="">
            <a:extLst xmlns:a="http://schemas.openxmlformats.org/drawingml/2006/main">
              <a:ext uri="{FF2B5EF4-FFF2-40B4-BE49-F238E27FC236}">
                <a16:creationId xmlns:a16="http://schemas.microsoft.com/office/drawing/2014/main" id="{CA2BBD0A-28DA-4AA2-8FC7-4905467E1C27}"/>
              </a:ext>
            </a:extLst>
          </p:cNvPr>
          <p:cNvSpPr>
            <a:spLocks xmlns:a="http://schemas.openxmlformats.org/drawingml/2006/main" noGrp="1"/>
          </p:cNvSpPr>
          <p:nvPr/>
        </p:nvSpPr>
        <p:spPr>
          <a:xfrm xmlns:a="http://schemas.openxmlformats.org/drawingml/2006/main">
            <a:off x="1066800" y="146685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71817"/>
                </a:solidFill>
                <a:latin typeface="DIN Condensed"/>
                <a:ea typeface="DIN Condensed"/>
                <a:cs typeface="DIN Condensed"/>
              </a:defRPr>
            </a:pPr>
            <a:r>
              <a:rPr sz="2850" b="1">
                <a:solidFill>
                  <a:srgbClr val="171817"/>
                </a:solidFill>
                <a:latin typeface="DIN Condensed"/>
                <a:ea typeface="DIN Condensed"/>
                <a:cs typeface="DIN Condensed"/>
              </a:rPr>
              <a:t>Issuance answers who owns the bond.</a:t>
            </a:r>
          </a:p>
          <a:p xmlns:a="http://schemas.openxmlformats.org/drawingml/2006/main">
            <a:pPr algn="l">
              <a:defRPr sz="2850" b="1">
                <a:solidFill>
                  <a:srgbClr val="171817"/>
                </a:solidFill>
                <a:latin typeface="DIN Condensed"/>
                <a:ea typeface="DIN Condensed"/>
                <a:cs typeface="DIN Condensed"/>
              </a:defRPr>
            </a:pPr>
            <a:r>
              <a:rPr sz="2850" b="1">
                <a:solidFill>
                  <a:srgbClr val="171817"/>
                </a:solidFill>
                <a:latin typeface="DIN Condensed"/>
                <a:ea typeface="DIN Condensed"/>
                <a:cs typeface="DIN Condensed"/>
              </a:rPr>
              <a:t>Swan answers what the bond can finance.</a:t>
            </a:r>
          </a:p>
        </p:txBody>
      </p:sp>
      <p:sp>
        <p:nvSpPr>
          <p:cNvPr id="8" name="">
            <a:extLst xmlns:a="http://schemas.openxmlformats.org/drawingml/2006/main">
              <a:ext uri="{FF2B5EF4-FFF2-40B4-BE49-F238E27FC236}">
                <a16:creationId xmlns:a16="http://schemas.microsoft.com/office/drawing/2014/main" id="{1D5013EA-C0B8-4D22-8F81-9AABCD96CA72}"/>
              </a:ext>
            </a:extLst>
          </p:cNvPr>
          <p:cNvSpPr>
            <a:spLocks xmlns:a="http://schemas.openxmlformats.org/drawingml/2006/main" noGrp="1"/>
          </p:cNvSpPr>
          <p:nvPr/>
        </p:nvSpPr>
        <p:spPr>
          <a:xfrm xmlns:a="http://schemas.openxmlformats.org/drawingml/2006/main">
            <a:off x="1066800" y="262890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34"/>
          </a:bodyPr>
          <a:lstStyle xmlns:a="http://schemas.openxmlformats.org/drawingml/2006/main"/>
          <a:p xmlns:a="http://schemas.openxmlformats.org/drawingml/2006/main">
            <a:pPr algn="l">
              <a:defRPr sz="1650" b="0">
                <a:solidFill>
                  <a:srgbClr val="58655D"/>
                </a:solidFill>
                <a:latin typeface="Helvetica Neue"/>
                <a:ea typeface="Helvetica Neue"/>
                <a:cs typeface="Helvetica Neue"/>
              </a:defRPr>
            </a:pPr>
            <a:r>
              <a:rPr sz="1650" b="0">
                <a:solidFill>
                  <a:srgbClr val="58655D"/>
                </a:solidFill>
                <a:latin typeface="Helvetica Neue"/>
                <a:ea typeface="Helvetica Neue"/>
                <a:cs typeface="Helvetica Neue"/>
              </a:rPr>
              <a:t>Without a repo workflow, institutions must solve eligibility, valuation, cash settlement, margin, coupon treatment, and default recovery across disconnected systems.</a:t>
            </a:r>
          </a:p>
        </p:txBody>
      </p:sp>
      <p:sp>
        <p:nvSpPr>
          <p:cNvPr id="9" name="">
            <a:extLst xmlns:a="http://schemas.openxmlformats.org/drawingml/2006/main">
              <a:ext uri="{FF2B5EF4-FFF2-40B4-BE49-F238E27FC236}">
                <a16:creationId xmlns:a16="http://schemas.microsoft.com/office/drawing/2014/main" id="{7B902355-56D1-4335-8B34-54F19F209C9B}"/>
              </a:ext>
            </a:extLst>
          </p:cNvPr>
          <p:cNvSpPr>
            <a:spLocks xmlns:a="http://schemas.openxmlformats.org/drawingml/2006/main" noGrp="1"/>
          </p:cNvSpPr>
          <p:nvPr/>
        </p:nvSpPr>
        <p:spPr>
          <a:xfrm xmlns:a="http://schemas.openxmlformats.org/drawingml/2006/main">
            <a:off x="6858000" y="1562100"/>
            <a:ext cx="1619250" cy="952500"/>
          </a:xfrm>
          <a:prstGeom xmlns:a="http://schemas.openxmlformats.org/drawingml/2006/main" prst="roundRect">
            <a:avLst>
              <a:gd name="adj" fmla="val 14000"/>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800" b="1">
                <a:solidFill>
                  <a:srgbClr val="171817"/>
                </a:solidFill>
                <a:latin typeface="Helvetica Neue"/>
                <a:ea typeface="Helvetica Neue"/>
                <a:cs typeface="Helvetica Neue"/>
              </a:defRPr>
            </a:pPr>
            <a:r>
              <a:rPr sz="1800" b="1">
                <a:solidFill>
                  <a:srgbClr val="171817"/>
                </a:solidFill>
                <a:latin typeface="Helvetica Neue"/>
                <a:ea typeface="Helvetica Neue"/>
                <a:cs typeface="Helvetica Neue"/>
              </a:rPr>
              <a:t>ATS-issued</a:t>
            </a:r>
          </a:p>
          <a:p xmlns:a="http://schemas.openxmlformats.org/drawingml/2006/main">
            <a:pPr algn="ctr">
              <a:defRPr sz="1800" b="1">
                <a:solidFill>
                  <a:srgbClr val="171817"/>
                </a:solidFill>
                <a:latin typeface="Helvetica Neue"/>
                <a:ea typeface="Helvetica Neue"/>
                <a:cs typeface="Helvetica Neue"/>
              </a:defRPr>
            </a:pPr>
            <a:r>
              <a:rPr sz="1800" b="1">
                <a:solidFill>
                  <a:srgbClr val="171817"/>
                </a:solidFill>
                <a:latin typeface="Helvetica Neue"/>
                <a:ea typeface="Helvetica Neue"/>
                <a:cs typeface="Helvetica Neue"/>
              </a:rPr>
              <a:t>bond</a:t>
            </a:r>
          </a:p>
        </p:txBody>
      </p:sp>
      <p:sp>
        <p:nvSpPr>
          <p:cNvPr id="10" name="">
            <a:extLst xmlns:a="http://schemas.openxmlformats.org/drawingml/2006/main">
              <a:ext uri="{FF2B5EF4-FFF2-40B4-BE49-F238E27FC236}">
                <a16:creationId xmlns:a16="http://schemas.microsoft.com/office/drawing/2014/main" id="{4D1A5C88-5EDF-426D-B1FF-0537D4CC12D7}"/>
              </a:ext>
            </a:extLst>
          </p:cNvPr>
          <p:cNvSpPr>
            <a:spLocks xmlns:a="http://schemas.openxmlformats.org/drawingml/2006/main" noGrp="1"/>
          </p:cNvSpPr>
          <p:nvPr/>
        </p:nvSpPr>
        <p:spPr>
          <a:xfrm xmlns:a="http://schemas.openxmlformats.org/drawingml/2006/main">
            <a:off x="9953625" y="1562100"/>
            <a:ext cx="1619250" cy="952500"/>
          </a:xfrm>
          <a:prstGeom xmlns:a="http://schemas.openxmlformats.org/drawingml/2006/main" prst="roundRect">
            <a:avLst>
              <a:gd name="adj" fmla="val 14000"/>
            </a:avLst>
          </a:prstGeom>
          <a:solidFill xmlns:a="http://schemas.openxmlformats.org/drawingml/2006/main">
            <a:srgbClr val="A9C1CE"/>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800" b="1">
                <a:solidFill>
                  <a:srgbClr val="171817"/>
                </a:solidFill>
                <a:latin typeface="Helvetica Neue"/>
                <a:ea typeface="Helvetica Neue"/>
                <a:cs typeface="Helvetica Neue"/>
              </a:defRPr>
            </a:pPr>
            <a:r>
              <a:rPr sz="1800" b="1">
                <a:solidFill>
                  <a:srgbClr val="171817"/>
                </a:solidFill>
                <a:latin typeface="Helvetica Neue"/>
                <a:ea typeface="Helvetica Neue"/>
                <a:cs typeface="Helvetica Neue"/>
              </a:rPr>
              <a:t>USDC</a:t>
            </a:r>
          </a:p>
          <a:p xmlns:a="http://schemas.openxmlformats.org/drawingml/2006/main">
            <a:pPr algn="ctr">
              <a:defRPr sz="1800" b="1">
                <a:solidFill>
                  <a:srgbClr val="171817"/>
                </a:solidFill>
                <a:latin typeface="Helvetica Neue"/>
                <a:ea typeface="Helvetica Neue"/>
                <a:cs typeface="Helvetica Neue"/>
              </a:defRPr>
            </a:pPr>
            <a:r>
              <a:rPr sz="1800" b="1">
                <a:solidFill>
                  <a:srgbClr val="171817"/>
                </a:solidFill>
                <a:latin typeface="Helvetica Neue"/>
                <a:ea typeface="Helvetica Neue"/>
                <a:cs typeface="Helvetica Neue"/>
              </a:rPr>
              <a:t>liquidity</a:t>
            </a:r>
          </a:p>
        </p:txBody>
      </p:sp>
      <p:cxnSp>
        <p:nvCxnSpPr>
          <p:cNvPr id="35" name=""/>
          <p:cNvCxnSpPr>
            <a:stCxn xmlns:a="http://schemas.openxmlformats.org/drawingml/2006/main" id="9" idx="3"/>
            <a:endCxn xmlns:a="http://schemas.openxmlformats.org/drawingml/2006/main" id="10" idx="1"/>
          </p:cNvCxnSpPr>
          <p:nvPr/>
        </p:nvCxnSpPr>
        <p:spPr>
          <a:xfrm xmlns:a="http://schemas.openxmlformats.org/drawingml/2006/main">
            <a:off x="8477250" y="2038350"/>
            <a:ext cx="1476375" cy="0"/>
          </a:xfrm>
          <a:prstGeom xmlns:a="http://schemas.openxmlformats.org/drawingml/2006/main" prst="straightConnector1">
            <a:avLst/>
          </a:prstGeom>
          <a:ln xmlns:a="http://schemas.openxmlformats.org/drawingml/2006/main" w="19050">
            <a:solidFill>
              <a:srgbClr val="B85B55"/>
            </a:solidFill>
            <a:prstDash val="dash"/>
            <a:tailEnd type="arrow" w="med" len="med"/>
          </a:ln>
        </p:spPr>
      </p:cxnSp>
      <p:sp>
        <p:nvSpPr>
          <p:cNvPr id="12" name="">
            <a:extLst xmlns:a="http://schemas.openxmlformats.org/drawingml/2006/main">
              <a:ext uri="{FF2B5EF4-FFF2-40B4-BE49-F238E27FC236}">
                <a16:creationId xmlns:a16="http://schemas.microsoft.com/office/drawing/2014/main" id="{C7B378F9-5357-46E2-9573-106AA22A4527}"/>
              </a:ext>
            </a:extLst>
          </p:cNvPr>
          <p:cNvSpPr>
            <a:spLocks xmlns:a="http://schemas.openxmlformats.org/drawingml/2006/main" noGrp="1"/>
          </p:cNvSpPr>
          <p:nvPr/>
        </p:nvSpPr>
        <p:spPr>
          <a:xfrm xmlns:a="http://schemas.openxmlformats.org/drawingml/2006/main">
            <a:off x="8477250" y="1809750"/>
            <a:ext cx="147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B85B55"/>
                </a:solidFill>
                <a:latin typeface="Helvetica Neue"/>
                <a:ea typeface="Helvetica Neue"/>
                <a:cs typeface="Helvetica Neue"/>
              </a:defRPr>
            </a:pPr>
            <a:r>
              <a:rPr sz="1125" b="1">
                <a:solidFill>
                  <a:srgbClr val="B85B55"/>
                </a:solidFill>
                <a:latin typeface="Helvetica Neue"/>
                <a:ea typeface="Helvetica Neue"/>
                <a:cs typeface="Helvetica Neue"/>
              </a:rPr>
              <a:t>missing financing workflow</a:t>
            </a:r>
          </a:p>
        </p:txBody>
      </p:sp>
      <p:sp>
        <p:nvSpPr>
          <p:cNvPr id="13" name="">
            <a:extLst xmlns:a="http://schemas.openxmlformats.org/drawingml/2006/main">
              <a:ext uri="{FF2B5EF4-FFF2-40B4-BE49-F238E27FC236}">
                <a16:creationId xmlns:a16="http://schemas.microsoft.com/office/drawing/2014/main" id="{DE507E89-10AB-4A4B-A805-A8046CAB3961}"/>
              </a:ext>
            </a:extLst>
          </p:cNvPr>
          <p:cNvSpPr>
            <a:spLocks xmlns:a="http://schemas.openxmlformats.org/drawingml/2006/main" noGrp="1"/>
          </p:cNvSpPr>
          <p:nvPr/>
        </p:nvSpPr>
        <p:spPr>
          <a:xfrm xmlns:a="http://schemas.openxmlformats.org/drawingml/2006/main">
            <a:off x="1066800" y="39052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99B57"/>
                </a:solidFill>
                <a:latin typeface="DIN Condensed"/>
                <a:ea typeface="DIN Condensed"/>
                <a:cs typeface="DIN Condensed"/>
              </a:defRPr>
            </a:pPr>
            <a:r>
              <a:rPr sz="1275" b="1">
                <a:solidFill>
                  <a:srgbClr val="E99B57"/>
                </a:solidFill>
                <a:latin typeface="DIN Condensed"/>
                <a:ea typeface="DIN Condensed"/>
                <a:cs typeface="DIN Condensed"/>
              </a:rPr>
              <a:t>VALUE</a:t>
            </a:r>
          </a:p>
        </p:txBody>
      </p:sp>
      <p:sp>
        <p:nvSpPr>
          <p:cNvPr id="14" name="">
            <a:extLst xmlns:a="http://schemas.openxmlformats.org/drawingml/2006/main">
              <a:ext uri="{FF2B5EF4-FFF2-40B4-BE49-F238E27FC236}">
                <a16:creationId xmlns:a16="http://schemas.microsoft.com/office/drawing/2014/main" id="{1E3C599F-BF01-4088-98A0-B185D18D5238}"/>
              </a:ext>
            </a:extLst>
          </p:cNvPr>
          <p:cNvSpPr>
            <a:spLocks xmlns:a="http://schemas.openxmlformats.org/drawingml/2006/main" noGrp="1"/>
          </p:cNvSpPr>
          <p:nvPr/>
        </p:nvSpPr>
        <p:spPr>
          <a:xfrm xmlns:a="http://schemas.openxmlformats.org/drawingml/2006/main">
            <a:off x="2095500" y="4029075"/>
            <a:ext cx="523875" cy="0"/>
          </a:xfrm>
          <a:prstGeom xmlns:a="http://schemas.openxmlformats.org/drawingml/2006/main" prst="line">
            <a:avLst/>
          </a:prstGeom>
          <a:noFill xmlns:a="http://schemas.openxmlformats.org/drawingml/2006/main"/>
          <a:ln xmlns:a="http://schemas.openxmlformats.org/drawingml/2006/main" w="19050">
            <a:solidFill>
              <a:srgbClr val="E99B57"/>
            </a:solidFill>
            <a:prstDash val="solid"/>
          </a:ln>
        </p:spPr>
      </p:sp>
      <p:sp>
        <p:nvSpPr>
          <p:cNvPr id="15" name="">
            <a:extLst xmlns:a="http://schemas.openxmlformats.org/drawingml/2006/main">
              <a:ext uri="{FF2B5EF4-FFF2-40B4-BE49-F238E27FC236}">
                <a16:creationId xmlns:a16="http://schemas.microsoft.com/office/drawing/2014/main" id="{9FA41ABB-52F1-4301-B046-EC44B5C3359C}"/>
              </a:ext>
            </a:extLst>
          </p:cNvPr>
          <p:cNvSpPr>
            <a:spLocks xmlns:a="http://schemas.openxmlformats.org/drawingml/2006/main" noGrp="1"/>
          </p:cNvSpPr>
          <p:nvPr/>
        </p:nvSpPr>
        <p:spPr>
          <a:xfrm xmlns:a="http://schemas.openxmlformats.org/drawingml/2006/main">
            <a:off x="2800350" y="388620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71817"/>
                </a:solidFill>
                <a:latin typeface="Helvetica Neue"/>
                <a:ea typeface="Helvetica Neue"/>
                <a:cs typeface="Helvetica Neue"/>
              </a:defRPr>
            </a:pPr>
            <a:r>
              <a:rPr sz="1500" b="0">
                <a:solidFill>
                  <a:srgbClr val="171817"/>
                </a:solidFill>
                <a:latin typeface="Helvetica Neue"/>
                <a:ea typeface="Helvetica Neue"/>
                <a:cs typeface="Helvetica Neue"/>
              </a:rPr>
              <a:t>How much cash can this basket raise after haircuts?</a:t>
            </a:r>
          </a:p>
        </p:txBody>
      </p:sp>
      <p:sp>
        <p:nvSpPr>
          <p:cNvPr id="16" name="">
            <a:extLst xmlns:a="http://schemas.openxmlformats.org/drawingml/2006/main">
              <a:ext uri="{FF2B5EF4-FFF2-40B4-BE49-F238E27FC236}">
                <a16:creationId xmlns:a16="http://schemas.microsoft.com/office/drawing/2014/main" id="{572A6E79-9AE2-442C-ABCD-EC6A633EAFC7}"/>
              </a:ext>
            </a:extLst>
          </p:cNvPr>
          <p:cNvSpPr>
            <a:spLocks xmlns:a="http://schemas.openxmlformats.org/drawingml/2006/main" noGrp="1"/>
          </p:cNvSpPr>
          <p:nvPr/>
        </p:nvSpPr>
        <p:spPr>
          <a:xfrm xmlns:a="http://schemas.openxmlformats.org/drawingml/2006/main">
            <a:off x="1066800" y="449580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99B57"/>
                </a:solidFill>
                <a:latin typeface="DIN Condensed"/>
                <a:ea typeface="DIN Condensed"/>
                <a:cs typeface="DIN Condensed"/>
              </a:defRPr>
            </a:pPr>
            <a:r>
              <a:rPr sz="1275" b="1">
                <a:solidFill>
                  <a:srgbClr val="E99B57"/>
                </a:solidFill>
                <a:latin typeface="DIN Condensed"/>
                <a:ea typeface="DIN Condensed"/>
                <a:cs typeface="DIN Condensed"/>
              </a:rPr>
              <a:t>ACCESS</a:t>
            </a:r>
          </a:p>
        </p:txBody>
      </p:sp>
      <p:sp>
        <p:nvSpPr>
          <p:cNvPr id="17" name="">
            <a:extLst xmlns:a="http://schemas.openxmlformats.org/drawingml/2006/main">
              <a:ext uri="{FF2B5EF4-FFF2-40B4-BE49-F238E27FC236}">
                <a16:creationId xmlns:a16="http://schemas.microsoft.com/office/drawing/2014/main" id="{8DA4383A-F621-481D-A2D3-5B6A01DDAB7F}"/>
              </a:ext>
            </a:extLst>
          </p:cNvPr>
          <p:cNvSpPr>
            <a:spLocks xmlns:a="http://schemas.openxmlformats.org/drawingml/2006/main" noGrp="1"/>
          </p:cNvSpPr>
          <p:nvPr/>
        </p:nvSpPr>
        <p:spPr>
          <a:xfrm xmlns:a="http://schemas.openxmlformats.org/drawingml/2006/main">
            <a:off x="2095500" y="4619625"/>
            <a:ext cx="523875" cy="0"/>
          </a:xfrm>
          <a:prstGeom xmlns:a="http://schemas.openxmlformats.org/drawingml/2006/main" prst="line">
            <a:avLst/>
          </a:prstGeom>
          <a:noFill xmlns:a="http://schemas.openxmlformats.org/drawingml/2006/main"/>
          <a:ln xmlns:a="http://schemas.openxmlformats.org/drawingml/2006/main" w="19050">
            <a:solidFill>
              <a:srgbClr val="E99B57"/>
            </a:solidFill>
            <a:prstDash val="solid"/>
          </a:ln>
        </p:spPr>
      </p:sp>
      <p:sp>
        <p:nvSpPr>
          <p:cNvPr id="18" name="">
            <a:extLst xmlns:a="http://schemas.openxmlformats.org/drawingml/2006/main">
              <a:ext uri="{FF2B5EF4-FFF2-40B4-BE49-F238E27FC236}">
                <a16:creationId xmlns:a16="http://schemas.microsoft.com/office/drawing/2014/main" id="{84F4CFED-B01E-4F50-9A78-BA70B7B12D34}"/>
              </a:ext>
            </a:extLst>
          </p:cNvPr>
          <p:cNvSpPr>
            <a:spLocks xmlns:a="http://schemas.openxmlformats.org/drawingml/2006/main" noGrp="1"/>
          </p:cNvSpPr>
          <p:nvPr/>
        </p:nvSpPr>
        <p:spPr>
          <a:xfrm xmlns:a="http://schemas.openxmlformats.org/drawingml/2006/main">
            <a:off x="2800350" y="447675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71817"/>
                </a:solidFill>
                <a:latin typeface="Helvetica Neue"/>
                <a:ea typeface="Helvetica Neue"/>
                <a:cs typeface="Helvetica Neue"/>
              </a:defRPr>
            </a:pPr>
            <a:r>
              <a:rPr sz="1500" b="0">
                <a:solidFill>
                  <a:srgbClr val="171817"/>
                </a:solidFill>
                <a:latin typeface="Helvetica Neue"/>
                <a:ea typeface="Helvetica Neue"/>
                <a:cs typeface="Helvetica Neue"/>
              </a:rPr>
              <a:t>Can the borrower, lender, and bidder receive each security?</a:t>
            </a:r>
          </a:p>
        </p:txBody>
      </p:sp>
      <p:sp>
        <p:nvSpPr>
          <p:cNvPr id="19" name="">
            <a:extLst xmlns:a="http://schemas.openxmlformats.org/drawingml/2006/main">
              <a:ext uri="{FF2B5EF4-FFF2-40B4-BE49-F238E27FC236}">
                <a16:creationId xmlns:a16="http://schemas.microsoft.com/office/drawing/2014/main" id="{39661FD9-DB15-4A87-9F50-3F8CAFC8586E}"/>
              </a:ext>
            </a:extLst>
          </p:cNvPr>
          <p:cNvSpPr>
            <a:spLocks xmlns:a="http://schemas.openxmlformats.org/drawingml/2006/main" noGrp="1"/>
          </p:cNvSpPr>
          <p:nvPr/>
        </p:nvSpPr>
        <p:spPr>
          <a:xfrm xmlns:a="http://schemas.openxmlformats.org/drawingml/2006/main">
            <a:off x="1066800" y="50863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99B57"/>
                </a:solidFill>
                <a:latin typeface="DIN Condensed"/>
                <a:ea typeface="DIN Condensed"/>
                <a:cs typeface="DIN Condensed"/>
              </a:defRPr>
            </a:pPr>
            <a:r>
              <a:rPr sz="1275" b="1">
                <a:solidFill>
                  <a:srgbClr val="E99B57"/>
                </a:solidFill>
                <a:latin typeface="DIN Condensed"/>
                <a:ea typeface="DIN Condensed"/>
                <a:cs typeface="DIN Condensed"/>
              </a:rPr>
              <a:t>RISK</a:t>
            </a:r>
          </a:p>
        </p:txBody>
      </p:sp>
      <p:sp>
        <p:nvSpPr>
          <p:cNvPr id="20" name="">
            <a:extLst xmlns:a="http://schemas.openxmlformats.org/drawingml/2006/main">
              <a:ext uri="{FF2B5EF4-FFF2-40B4-BE49-F238E27FC236}">
                <a16:creationId xmlns:a16="http://schemas.microsoft.com/office/drawing/2014/main" id="{932DACB4-9297-4049-ACF2-553CA128F296}"/>
              </a:ext>
            </a:extLst>
          </p:cNvPr>
          <p:cNvSpPr>
            <a:spLocks xmlns:a="http://schemas.openxmlformats.org/drawingml/2006/main" noGrp="1"/>
          </p:cNvSpPr>
          <p:nvPr/>
        </p:nvSpPr>
        <p:spPr>
          <a:xfrm xmlns:a="http://schemas.openxmlformats.org/drawingml/2006/main">
            <a:off x="2095500" y="5210175"/>
            <a:ext cx="523875" cy="0"/>
          </a:xfrm>
          <a:prstGeom xmlns:a="http://schemas.openxmlformats.org/drawingml/2006/main" prst="line">
            <a:avLst/>
          </a:prstGeom>
          <a:noFill xmlns:a="http://schemas.openxmlformats.org/drawingml/2006/main"/>
          <a:ln xmlns:a="http://schemas.openxmlformats.org/drawingml/2006/main" w="19050">
            <a:solidFill>
              <a:srgbClr val="E99B57"/>
            </a:solidFill>
            <a:prstDash val="solid"/>
          </a:ln>
        </p:spPr>
      </p:sp>
      <p:sp>
        <p:nvSpPr>
          <p:cNvPr id="21" name="">
            <a:extLst xmlns:a="http://schemas.openxmlformats.org/drawingml/2006/main">
              <a:ext uri="{FF2B5EF4-FFF2-40B4-BE49-F238E27FC236}">
                <a16:creationId xmlns:a16="http://schemas.microsoft.com/office/drawing/2014/main" id="{4D7B337B-8FBA-4CB6-985C-78E55CE7E8E2}"/>
              </a:ext>
            </a:extLst>
          </p:cNvPr>
          <p:cNvSpPr>
            <a:spLocks xmlns:a="http://schemas.openxmlformats.org/drawingml/2006/main" noGrp="1"/>
          </p:cNvSpPr>
          <p:nvPr/>
        </p:nvSpPr>
        <p:spPr>
          <a:xfrm xmlns:a="http://schemas.openxmlformats.org/drawingml/2006/main">
            <a:off x="2800350" y="506730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71817"/>
                </a:solidFill>
                <a:latin typeface="Helvetica Neue"/>
                <a:ea typeface="Helvetica Neue"/>
                <a:cs typeface="Helvetica Neue"/>
              </a:defRPr>
            </a:pPr>
            <a:r>
              <a:rPr sz="1500" b="0">
                <a:solidFill>
                  <a:srgbClr val="171817"/>
                </a:solidFill>
                <a:latin typeface="Helvetica Neue"/>
                <a:ea typeface="Helvetica Neue"/>
                <a:cs typeface="Helvetica Neue"/>
              </a:rPr>
              <a:t>What happens when prices fall below maintenance coverage?</a:t>
            </a:r>
          </a:p>
        </p:txBody>
      </p:sp>
      <p:sp>
        <p:nvSpPr>
          <p:cNvPr id="22" name="">
            <a:extLst xmlns:a="http://schemas.openxmlformats.org/drawingml/2006/main">
              <a:ext uri="{FF2B5EF4-FFF2-40B4-BE49-F238E27FC236}">
                <a16:creationId xmlns:a16="http://schemas.microsoft.com/office/drawing/2014/main" id="{5E971E97-5C87-49C8-A188-BE378B52F004}"/>
              </a:ext>
            </a:extLst>
          </p:cNvPr>
          <p:cNvSpPr>
            <a:spLocks xmlns:a="http://schemas.openxmlformats.org/drawingml/2006/main" noGrp="1"/>
          </p:cNvSpPr>
          <p:nvPr/>
        </p:nvSpPr>
        <p:spPr>
          <a:xfrm xmlns:a="http://schemas.openxmlformats.org/drawingml/2006/main">
            <a:off x="1066800" y="567690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99B57"/>
                </a:solidFill>
                <a:latin typeface="DIN Condensed"/>
                <a:ea typeface="DIN Condensed"/>
                <a:cs typeface="DIN Condensed"/>
              </a:defRPr>
            </a:pPr>
            <a:r>
              <a:rPr sz="1275" b="1">
                <a:solidFill>
                  <a:srgbClr val="E99B57"/>
                </a:solidFill>
                <a:latin typeface="DIN Condensed"/>
                <a:ea typeface="DIN Condensed"/>
                <a:cs typeface="DIN Condensed"/>
              </a:rPr>
              <a:t>RECOVERY</a:t>
            </a:r>
          </a:p>
        </p:txBody>
      </p:sp>
      <p:sp>
        <p:nvSpPr>
          <p:cNvPr id="23" name="">
            <a:extLst xmlns:a="http://schemas.openxmlformats.org/drawingml/2006/main">
              <a:ext uri="{FF2B5EF4-FFF2-40B4-BE49-F238E27FC236}">
                <a16:creationId xmlns:a16="http://schemas.microsoft.com/office/drawing/2014/main" id="{BDB537CA-5F9B-46DA-9462-E23FB075A652}"/>
              </a:ext>
            </a:extLst>
          </p:cNvPr>
          <p:cNvSpPr>
            <a:spLocks xmlns:a="http://schemas.openxmlformats.org/drawingml/2006/main" noGrp="1"/>
          </p:cNvSpPr>
          <p:nvPr/>
        </p:nvSpPr>
        <p:spPr>
          <a:xfrm xmlns:a="http://schemas.openxmlformats.org/drawingml/2006/main">
            <a:off x="2095500" y="5800725"/>
            <a:ext cx="523875" cy="0"/>
          </a:xfrm>
          <a:prstGeom xmlns:a="http://schemas.openxmlformats.org/drawingml/2006/main" prst="line">
            <a:avLst/>
          </a:prstGeom>
          <a:noFill xmlns:a="http://schemas.openxmlformats.org/drawingml/2006/main"/>
          <a:ln xmlns:a="http://schemas.openxmlformats.org/drawingml/2006/main" w="19050">
            <a:solidFill>
              <a:srgbClr val="E99B57"/>
            </a:solidFill>
            <a:prstDash val="solid"/>
          </a:ln>
        </p:spPr>
      </p:sp>
      <p:sp>
        <p:nvSpPr>
          <p:cNvPr id="24" name="">
            <a:extLst xmlns:a="http://schemas.openxmlformats.org/drawingml/2006/main">
              <a:ext uri="{FF2B5EF4-FFF2-40B4-BE49-F238E27FC236}">
                <a16:creationId xmlns:a16="http://schemas.microsoft.com/office/drawing/2014/main" id="{0AF5BF23-6A6C-4D6F-9189-114ADFEFAB31}"/>
              </a:ext>
            </a:extLst>
          </p:cNvPr>
          <p:cNvSpPr>
            <a:spLocks xmlns:a="http://schemas.openxmlformats.org/drawingml/2006/main" noGrp="1"/>
          </p:cNvSpPr>
          <p:nvPr/>
        </p:nvSpPr>
        <p:spPr>
          <a:xfrm xmlns:a="http://schemas.openxmlformats.org/drawingml/2006/main">
            <a:off x="2800350" y="565785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71817"/>
                </a:solidFill>
                <a:latin typeface="Helvetica Neue"/>
                <a:ea typeface="Helvetica Neue"/>
                <a:cs typeface="Helvetica Neue"/>
              </a:defRPr>
            </a:pPr>
            <a:r>
              <a:rPr sz="1500" b="0">
                <a:solidFill>
                  <a:srgbClr val="171817"/>
                </a:solidFill>
                <a:latin typeface="Helvetica Neue"/>
                <a:ea typeface="Helvetica Neue"/>
                <a:cs typeface="Helvetica Neue"/>
              </a:rPr>
              <a:t>How does the lender sell collateral without breaking KYC rules?</a:t>
            </a:r>
          </a:p>
        </p:txBody>
      </p:sp>
    </p:spTree>
    <p:extLst>
      <p:ext uri="{BB962C8B-B14F-4D97-AF65-F5344CB8AC3E}">
        <p14:creationId xmlns:p14="http://schemas.microsoft.com/office/powerpoint/2010/main" val="1460802748"/>
      </p:ext>
    </p:extLst>
  </p:cSld>
</p:sld>
</file>

<file path=ppt/slides/slide3.xml><?xml version="1.0" encoding="utf-8"?>
<p:sld xmlns:p="http://schemas.openxmlformats.org/presentationml/2006/main">
  <p:cSld>
    <p:bg>
      <p:bgPr>
        <a:solidFill xmlns:a="http://schemas.openxmlformats.org/drawingml/2006/main">
          <a:srgbClr val="F4F2E6"/>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90D895B-E8CE-4D03-BCFA-0D973DB44F6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FC3AC"/>
          </a:solidFill>
          <a:ln xmlns:a="http://schemas.openxmlformats.org/drawingml/2006/main" w="0">
            <a:solidFill>
              <a:srgbClr val="AFC3AC"/>
            </a:solidFill>
            <a:prstDash val="solid"/>
          </a:ln>
        </p:spPr>
      </p:sp>
      <p:sp>
        <p:nvSpPr>
          <p:cNvPr id="2" name="">
            <a:extLst xmlns:a="http://schemas.openxmlformats.org/drawingml/2006/main">
              <a:ext uri="{FF2B5EF4-FFF2-40B4-BE49-F238E27FC236}">
                <a16:creationId xmlns:a16="http://schemas.microsoft.com/office/drawing/2014/main" id="{0D648D4A-B3B4-42C6-81ED-E57E0C3F54DA}"/>
              </a:ext>
            </a:extLst>
          </p:cNvPr>
          <p:cNvSpPr>
            <a:spLocks xmlns:a="http://schemas.openxmlformats.org/drawingml/2006/main" noGrp="1"/>
          </p:cNvSpPr>
          <p:nvPr/>
        </p:nvSpPr>
        <p:spPr>
          <a:xfrm xmlns:a="http://schemas.openxmlformats.org/drawingml/2006/main">
            <a:off x="438150" y="323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9B57"/>
                </a:solidFill>
                <a:latin typeface="DIN Condensed"/>
                <a:ea typeface="DIN Condensed"/>
                <a:cs typeface="DIN Condensed"/>
              </a:defRPr>
            </a:pPr>
            <a:r>
              <a:rPr sz="1350" b="1">
                <a:solidFill>
                  <a:srgbClr val="E99B57"/>
                </a:solidFill>
                <a:latin typeface="DIN Condensed"/>
                <a:ea typeface="DIN Condensed"/>
                <a:cs typeface="DIN Condensed"/>
              </a:rPr>
              <a:t>03</a:t>
            </a:r>
          </a:p>
        </p:txBody>
      </p:sp>
      <p:sp>
        <p:nvSpPr>
          <p:cNvPr id="3" name="">
            <a:extLst xmlns:a="http://schemas.openxmlformats.org/drawingml/2006/main">
              <a:ext uri="{FF2B5EF4-FFF2-40B4-BE49-F238E27FC236}">
                <a16:creationId xmlns:a16="http://schemas.microsoft.com/office/drawing/2014/main" id="{A4E93935-CBBF-4645-BB8E-2E5799C5327F}"/>
              </a:ext>
            </a:extLst>
          </p:cNvPr>
          <p:cNvSpPr>
            <a:spLocks xmlns:a="http://schemas.openxmlformats.org/drawingml/2006/main" noGrp="1"/>
          </p:cNvSpPr>
          <p:nvPr/>
        </p:nvSpPr>
        <p:spPr>
          <a:xfrm xmlns:a="http://schemas.openxmlformats.org/drawingml/2006/main">
            <a:off x="1066800" y="24765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71817"/>
                </a:solidFill>
                <a:latin typeface="DIN Condensed"/>
                <a:ea typeface="DIN Condensed"/>
                <a:cs typeface="DIN Condensed"/>
              </a:defRPr>
            </a:pPr>
            <a:r>
              <a:rPr sz="3300" b="1">
                <a:solidFill>
                  <a:srgbClr val="171817"/>
                </a:solidFill>
                <a:latin typeface="DIN Condensed"/>
                <a:ea typeface="DIN Condensed"/>
                <a:cs typeface="DIN Condensed"/>
              </a:rPr>
              <a:t>Repo economics</a:t>
            </a:r>
          </a:p>
        </p:txBody>
      </p:sp>
      <p:sp>
        <p:nvSpPr>
          <p:cNvPr id="4" name="">
            <a:extLst xmlns:a="http://schemas.openxmlformats.org/drawingml/2006/main">
              <a:ext uri="{FF2B5EF4-FFF2-40B4-BE49-F238E27FC236}">
                <a16:creationId xmlns:a16="http://schemas.microsoft.com/office/drawing/2014/main" id="{1CE1A701-A26F-4077-9EED-CB166735E17C}"/>
              </a:ext>
            </a:extLst>
          </p:cNvPr>
          <p:cNvSpPr>
            <a:spLocks xmlns:a="http://schemas.openxmlformats.org/drawingml/2006/main" noGrp="1"/>
          </p:cNvSpPr>
          <p:nvPr/>
        </p:nvSpPr>
        <p:spPr>
          <a:xfrm xmlns:a="http://schemas.openxmlformats.org/drawingml/2006/main">
            <a:off x="1085850" y="8191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8655D"/>
                </a:solidFill>
                <a:latin typeface="Helvetica Neue"/>
                <a:ea typeface="Helvetica Neue"/>
                <a:cs typeface="Helvetica Neue"/>
              </a:defRPr>
            </a:pPr>
            <a:r>
              <a:rPr sz="1425" b="0">
                <a:solidFill>
                  <a:srgbClr val="58655D"/>
                </a:solidFill>
                <a:latin typeface="Helvetica Neue"/>
                <a:ea typeface="Helvetica Neue"/>
                <a:cs typeface="Helvetica Neue"/>
              </a:rPr>
              <a:t>The bond supports borrowing capacity while remaining subject to compliance controls.</a:t>
            </a:r>
          </a:p>
        </p:txBody>
      </p:sp>
      <p:sp>
        <p:nvSpPr>
          <p:cNvPr id="5" name="">
            <a:extLst xmlns:a="http://schemas.openxmlformats.org/drawingml/2006/main">
              <a:ext uri="{FF2B5EF4-FFF2-40B4-BE49-F238E27FC236}">
                <a16:creationId xmlns:a16="http://schemas.microsoft.com/office/drawing/2014/main" id="{7FB55291-7A35-4D0F-844A-9744FDCF1D7B}"/>
              </a:ext>
            </a:extLst>
          </p:cNvPr>
          <p:cNvSpPr>
            <a:spLocks xmlns:a="http://schemas.openxmlformats.org/drawingml/2006/main" noGrp="1"/>
          </p:cNvSpPr>
          <p:nvPr/>
        </p:nvSpPr>
        <p:spPr>
          <a:xfrm xmlns:a="http://schemas.openxmlformats.org/drawingml/2006/main">
            <a:off x="11049000" y="3429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DIN Condensed"/>
                <a:ea typeface="DIN Condensed"/>
                <a:cs typeface="DIN Condensed"/>
              </a:defRPr>
            </a:pPr>
            <a:r>
              <a:rPr sz="1350" b="1">
                <a:solidFill>
                  <a:srgbClr val="171817"/>
                </a:solidFill>
                <a:latin typeface="DIN Condensed"/>
                <a:ea typeface="DIN Condensed"/>
                <a:cs typeface="DIN Condensed"/>
              </a:rPr>
              <a:t>SWAN</a:t>
            </a:r>
          </a:p>
        </p:txBody>
      </p:sp>
      <p:sp>
        <p:nvSpPr>
          <p:cNvPr id="6" name="">
            <a:extLst xmlns:a="http://schemas.openxmlformats.org/drawingml/2006/main">
              <a:ext uri="{FF2B5EF4-FFF2-40B4-BE49-F238E27FC236}">
                <a16:creationId xmlns:a16="http://schemas.microsoft.com/office/drawing/2014/main" id="{A9D4F180-5897-4487-8673-E0EA16CF54F5}"/>
              </a:ext>
            </a:extLst>
          </p:cNvPr>
          <p:cNvSpPr>
            <a:spLocks xmlns:a="http://schemas.openxmlformats.org/drawingml/2006/main" noGrp="1"/>
          </p:cNvSpPr>
          <p:nvPr/>
        </p:nvSpPr>
        <p:spPr>
          <a:xfrm xmlns:a="http://schemas.openxmlformats.org/drawingml/2006/main">
            <a:off x="1066800" y="1162050"/>
            <a:ext cx="10668000" cy="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7" name="">
            <a:extLst xmlns:a="http://schemas.openxmlformats.org/drawingml/2006/main">
              <a:ext uri="{FF2B5EF4-FFF2-40B4-BE49-F238E27FC236}">
                <a16:creationId xmlns:a16="http://schemas.microsoft.com/office/drawing/2014/main" id="{8CFB8F53-8444-4C73-AAB5-6BF611E2D29F}"/>
              </a:ext>
            </a:extLst>
          </p:cNvPr>
          <p:cNvSpPr>
            <a:spLocks xmlns:a="http://schemas.openxmlformats.org/drawingml/2006/main" noGrp="1"/>
          </p:cNvSpPr>
          <p:nvPr/>
        </p:nvSpPr>
        <p:spPr>
          <a:xfrm xmlns:a="http://schemas.openxmlformats.org/drawingml/2006/main">
            <a:off x="1066800" y="1466850"/>
            <a:ext cx="10458450" cy="990600"/>
          </a:xfrm>
          <a:prstGeom xmlns:a="http://schemas.openxmlformats.org/drawingml/2006/main" prst="rect">
            <a:avLst/>
          </a:prstGeom>
          <a:solidFill xmlns:a="http://schemas.openxmlformats.org/drawingml/2006/main">
            <a:srgbClr val="CFE0CC"/>
          </a:solidFill>
          <a:ln xmlns:a="http://schemas.openxmlformats.org/drawingml/2006/main" w="0">
            <a:solidFill>
              <a:srgbClr val="CFE0CC"/>
            </a:solidFill>
            <a:prstDash val="solid"/>
          </a:ln>
        </p:spPr>
      </p:sp>
      <p:sp>
        <p:nvSpPr>
          <p:cNvPr id="8" name="">
            <a:extLst xmlns:a="http://schemas.openxmlformats.org/drawingml/2006/main">
              <a:ext uri="{FF2B5EF4-FFF2-40B4-BE49-F238E27FC236}">
                <a16:creationId xmlns:a16="http://schemas.microsoft.com/office/drawing/2014/main" id="{7E50FB66-C57E-4CFA-BDFA-2A80BBEB265E}"/>
              </a:ext>
            </a:extLst>
          </p:cNvPr>
          <p:cNvSpPr>
            <a:spLocks xmlns:a="http://schemas.openxmlformats.org/drawingml/2006/main" noGrp="1"/>
          </p:cNvSpPr>
          <p:nvPr/>
        </p:nvSpPr>
        <p:spPr>
          <a:xfrm xmlns:a="http://schemas.openxmlformats.org/drawingml/2006/main">
            <a:off x="1333500" y="16573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71817"/>
                </a:solidFill>
                <a:latin typeface="DIN Condensed"/>
                <a:ea typeface="DIN Condensed"/>
                <a:cs typeface="DIN Condensed"/>
              </a:defRPr>
            </a:pPr>
            <a:r>
              <a:rPr sz="1800" b="1">
                <a:solidFill>
                  <a:srgbClr val="171817"/>
                </a:solidFill>
                <a:latin typeface="DIN Condensed"/>
                <a:ea typeface="DIN Condensed"/>
                <a:cs typeface="DIN Condensed"/>
              </a:rPr>
              <a:t>Borrowing capacity</a:t>
            </a:r>
          </a:p>
        </p:txBody>
      </p:sp>
      <p:sp>
        <p:nvSpPr>
          <p:cNvPr id="9" name="">
            <a:extLst xmlns:a="http://schemas.openxmlformats.org/drawingml/2006/main">
              <a:ext uri="{FF2B5EF4-FFF2-40B4-BE49-F238E27FC236}">
                <a16:creationId xmlns:a16="http://schemas.microsoft.com/office/drawing/2014/main" id="{FABADE54-A0EE-4855-BE53-E7B8B6395F96}"/>
              </a:ext>
            </a:extLst>
          </p:cNvPr>
          <p:cNvSpPr>
            <a:spLocks xmlns:a="http://schemas.openxmlformats.org/drawingml/2006/main" noGrp="1"/>
          </p:cNvSpPr>
          <p:nvPr/>
        </p:nvSpPr>
        <p:spPr>
          <a:xfrm xmlns:a="http://schemas.openxmlformats.org/drawingml/2006/main">
            <a:off x="4000500" y="1619250"/>
            <a:ext cx="714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550" b="1">
                <a:solidFill>
                  <a:srgbClr val="171817"/>
                </a:solidFill>
                <a:latin typeface="DIN Condensed"/>
                <a:ea typeface="DIN Condensed"/>
                <a:cs typeface="DIN Condensed"/>
              </a:defRPr>
            </a:pPr>
            <a:r>
              <a:rPr sz="2550" b="1">
                <a:solidFill>
                  <a:srgbClr val="171817"/>
                </a:solidFill>
                <a:latin typeface="DIN Condensed"/>
                <a:ea typeface="DIN Condensed"/>
                <a:cs typeface="DIN Condensed"/>
              </a:rPr>
              <a:t>Σ oracle price × quantity × (1 − haircut)</a:t>
            </a:r>
          </a:p>
        </p:txBody>
      </p:sp>
      <p:sp>
        <p:nvSpPr>
          <p:cNvPr id="10" name="">
            <a:extLst xmlns:a="http://schemas.openxmlformats.org/drawingml/2006/main">
              <a:ext uri="{FF2B5EF4-FFF2-40B4-BE49-F238E27FC236}">
                <a16:creationId xmlns:a16="http://schemas.microsoft.com/office/drawing/2014/main" id="{A9529520-60F2-4BAB-A575-42EA59AF0E38}"/>
              </a:ext>
            </a:extLst>
          </p:cNvPr>
          <p:cNvSpPr>
            <a:spLocks xmlns:a="http://schemas.openxmlformats.org/drawingml/2006/main" noGrp="1"/>
          </p:cNvSpPr>
          <p:nvPr/>
        </p:nvSpPr>
        <p:spPr>
          <a:xfrm xmlns:a="http://schemas.openxmlformats.org/drawingml/2006/main">
            <a:off x="1333500" y="209550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3F7656"/>
                </a:solidFill>
                <a:latin typeface="Helvetica Neue"/>
                <a:ea typeface="Helvetica Neue"/>
                <a:cs typeface="Helvetica Neue"/>
              </a:defRPr>
            </a:pPr>
            <a:r>
              <a:rPr sz="1275" b="1">
                <a:solidFill>
                  <a:srgbClr val="3F7656"/>
                </a:solidFill>
                <a:latin typeface="Helvetica Neue"/>
                <a:ea typeface="Helvetica Neue"/>
                <a:cs typeface="Helvetica Neue"/>
              </a:rPr>
              <a:t>Swan demo: 4 bonds produce 3.51 USDC capacity against 2.50 USDC principal</a:t>
            </a:r>
          </a:p>
        </p:txBody>
      </p:sp>
      <p:sp>
        <p:nvSpPr>
          <p:cNvPr id="11" name="">
            <a:extLst xmlns:a="http://schemas.openxmlformats.org/drawingml/2006/main">
              <a:ext uri="{FF2B5EF4-FFF2-40B4-BE49-F238E27FC236}">
                <a16:creationId xmlns:a16="http://schemas.microsoft.com/office/drawing/2014/main" id="{C03A1837-9347-472D-AF06-6BBDD77B0D41}"/>
              </a:ext>
            </a:extLst>
          </p:cNvPr>
          <p:cNvSpPr>
            <a:spLocks xmlns:a="http://schemas.openxmlformats.org/drawingml/2006/main" noGrp="1"/>
          </p:cNvSpPr>
          <p:nvPr/>
        </p:nvSpPr>
        <p:spPr>
          <a:xfrm xmlns:a="http://schemas.openxmlformats.org/drawingml/2006/main">
            <a:off x="1066800" y="291465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12" name="">
            <a:extLst xmlns:a="http://schemas.openxmlformats.org/drawingml/2006/main">
              <a:ext uri="{FF2B5EF4-FFF2-40B4-BE49-F238E27FC236}">
                <a16:creationId xmlns:a16="http://schemas.microsoft.com/office/drawing/2014/main" id="{B4942385-A281-412F-8887-D22C64BBB5A3}"/>
              </a:ext>
            </a:extLst>
          </p:cNvPr>
          <p:cNvSpPr>
            <a:spLocks xmlns:a="http://schemas.openxmlformats.org/drawingml/2006/main" noGrp="1"/>
          </p:cNvSpPr>
          <p:nvPr/>
        </p:nvSpPr>
        <p:spPr>
          <a:xfrm xmlns:a="http://schemas.openxmlformats.org/drawingml/2006/main">
            <a:off x="1238250" y="2876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Tokenized bond</a:t>
            </a:r>
          </a:p>
        </p:txBody>
      </p:sp>
      <p:sp>
        <p:nvSpPr>
          <p:cNvPr id="13" name="">
            <a:extLst xmlns:a="http://schemas.openxmlformats.org/drawingml/2006/main">
              <a:ext uri="{FF2B5EF4-FFF2-40B4-BE49-F238E27FC236}">
                <a16:creationId xmlns:a16="http://schemas.microsoft.com/office/drawing/2014/main" id="{7237D0BA-B4D9-4736-855F-44E295DE515F}"/>
              </a:ext>
            </a:extLst>
          </p:cNvPr>
          <p:cNvSpPr>
            <a:spLocks xmlns:a="http://schemas.openxmlformats.org/drawingml/2006/main" noGrp="1"/>
          </p:cNvSpPr>
          <p:nvPr/>
        </p:nvSpPr>
        <p:spPr>
          <a:xfrm xmlns:a="http://schemas.openxmlformats.org/drawingml/2006/main">
            <a:off x="1238250" y="3124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A debt security represented by a controlled on-chain token.</a:t>
            </a:r>
          </a:p>
        </p:txBody>
      </p:sp>
      <p:sp>
        <p:nvSpPr>
          <p:cNvPr id="14" name="">
            <a:extLst xmlns:a="http://schemas.openxmlformats.org/drawingml/2006/main">
              <a:ext uri="{FF2B5EF4-FFF2-40B4-BE49-F238E27FC236}">
                <a16:creationId xmlns:a16="http://schemas.microsoft.com/office/drawing/2014/main" id="{68DAF18F-AA25-43F3-A311-92AF99E82E45}"/>
              </a:ext>
            </a:extLst>
          </p:cNvPr>
          <p:cNvSpPr>
            <a:spLocks xmlns:a="http://schemas.openxmlformats.org/drawingml/2006/main" noGrp="1"/>
          </p:cNvSpPr>
          <p:nvPr/>
        </p:nvSpPr>
        <p:spPr>
          <a:xfrm xmlns:a="http://schemas.openxmlformats.org/drawingml/2006/main">
            <a:off x="1066800" y="367665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15" name="">
            <a:extLst xmlns:a="http://schemas.openxmlformats.org/drawingml/2006/main">
              <a:ext uri="{FF2B5EF4-FFF2-40B4-BE49-F238E27FC236}">
                <a16:creationId xmlns:a16="http://schemas.microsoft.com/office/drawing/2014/main" id="{9A893F02-8991-41E6-9536-D2F7B26F9115}"/>
              </a:ext>
            </a:extLst>
          </p:cNvPr>
          <p:cNvSpPr>
            <a:spLocks xmlns:a="http://schemas.openxmlformats.org/drawingml/2006/main" noGrp="1"/>
          </p:cNvSpPr>
          <p:nvPr/>
        </p:nvSpPr>
        <p:spPr>
          <a:xfrm xmlns:a="http://schemas.openxmlformats.org/drawingml/2006/main">
            <a:off x="1238250" y="3638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ATS security</a:t>
            </a:r>
          </a:p>
        </p:txBody>
      </p:sp>
      <p:sp>
        <p:nvSpPr>
          <p:cNvPr id="16" name="">
            <a:extLst xmlns:a="http://schemas.openxmlformats.org/drawingml/2006/main">
              <a:ext uri="{FF2B5EF4-FFF2-40B4-BE49-F238E27FC236}">
                <a16:creationId xmlns:a16="http://schemas.microsoft.com/office/drawing/2014/main" id="{F0709396-4126-417F-B530-6AF0DDB21816}"/>
              </a:ext>
            </a:extLst>
          </p:cNvPr>
          <p:cNvSpPr>
            <a:spLocks xmlns:a="http://schemas.openxmlformats.org/drawingml/2006/main" noGrp="1"/>
          </p:cNvSpPr>
          <p:nvPr/>
        </p:nvSpPr>
        <p:spPr>
          <a:xfrm xmlns:a="http://schemas.openxmlformats.org/drawingml/2006/main">
            <a:off x="1238250" y="3886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A bond issued through Asset Tokenization Studio with lifecycle and compliance modules.</a:t>
            </a:r>
          </a:p>
        </p:txBody>
      </p:sp>
      <p:sp>
        <p:nvSpPr>
          <p:cNvPr id="17" name="">
            <a:extLst xmlns:a="http://schemas.openxmlformats.org/drawingml/2006/main">
              <a:ext uri="{FF2B5EF4-FFF2-40B4-BE49-F238E27FC236}">
                <a16:creationId xmlns:a16="http://schemas.microsoft.com/office/drawing/2014/main" id="{0D29B2FC-8CA1-4A3A-9BB4-0324F41BA5E8}"/>
              </a:ext>
            </a:extLst>
          </p:cNvPr>
          <p:cNvSpPr>
            <a:spLocks xmlns:a="http://schemas.openxmlformats.org/drawingml/2006/main" noGrp="1"/>
          </p:cNvSpPr>
          <p:nvPr/>
        </p:nvSpPr>
        <p:spPr>
          <a:xfrm xmlns:a="http://schemas.openxmlformats.org/drawingml/2006/main">
            <a:off x="1066800" y="443865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18" name="">
            <a:extLst xmlns:a="http://schemas.openxmlformats.org/drawingml/2006/main">
              <a:ext uri="{FF2B5EF4-FFF2-40B4-BE49-F238E27FC236}">
                <a16:creationId xmlns:a16="http://schemas.microsoft.com/office/drawing/2014/main" id="{17D4AA15-2C64-42C0-A19E-DCC5CEB2C758}"/>
              </a:ext>
            </a:extLst>
          </p:cNvPr>
          <p:cNvSpPr>
            <a:spLocks xmlns:a="http://schemas.openxmlformats.org/drawingml/2006/main" noGrp="1"/>
          </p:cNvSpPr>
          <p:nvPr/>
        </p:nvSpPr>
        <p:spPr>
          <a:xfrm xmlns:a="http://schemas.openxmlformats.org/drawingml/2006/main">
            <a:off x="1238250" y="4400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Repo</a:t>
            </a:r>
          </a:p>
        </p:txBody>
      </p:sp>
      <p:sp>
        <p:nvSpPr>
          <p:cNvPr id="19" name="">
            <a:extLst xmlns:a="http://schemas.openxmlformats.org/drawingml/2006/main">
              <a:ext uri="{FF2B5EF4-FFF2-40B4-BE49-F238E27FC236}">
                <a16:creationId xmlns:a16="http://schemas.microsoft.com/office/drawing/2014/main" id="{8497D29B-0222-4C61-AD99-2A074D1A4981}"/>
              </a:ext>
            </a:extLst>
          </p:cNvPr>
          <p:cNvSpPr>
            <a:spLocks xmlns:a="http://schemas.openxmlformats.org/drawingml/2006/main" noGrp="1"/>
          </p:cNvSpPr>
          <p:nvPr/>
        </p:nvSpPr>
        <p:spPr>
          <a:xfrm xmlns:a="http://schemas.openxmlformats.org/drawingml/2006/main">
            <a:off x="1238250" y="4648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The borrower receives cash and agrees to repurchase the collateral later.</a:t>
            </a:r>
          </a:p>
        </p:txBody>
      </p:sp>
      <p:sp>
        <p:nvSpPr>
          <p:cNvPr id="20" name="">
            <a:extLst xmlns:a="http://schemas.openxmlformats.org/drawingml/2006/main">
              <a:ext uri="{FF2B5EF4-FFF2-40B4-BE49-F238E27FC236}">
                <a16:creationId xmlns:a16="http://schemas.microsoft.com/office/drawing/2014/main" id="{CD8099FB-EE33-4188-8D8C-B54177132C74}"/>
              </a:ext>
            </a:extLst>
          </p:cNvPr>
          <p:cNvSpPr>
            <a:spLocks xmlns:a="http://schemas.openxmlformats.org/drawingml/2006/main" noGrp="1"/>
          </p:cNvSpPr>
          <p:nvPr/>
        </p:nvSpPr>
        <p:spPr>
          <a:xfrm xmlns:a="http://schemas.openxmlformats.org/drawingml/2006/main">
            <a:off x="1066800" y="520065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21" name="">
            <a:extLst xmlns:a="http://schemas.openxmlformats.org/drawingml/2006/main">
              <a:ext uri="{FF2B5EF4-FFF2-40B4-BE49-F238E27FC236}">
                <a16:creationId xmlns:a16="http://schemas.microsoft.com/office/drawing/2014/main" id="{F57757F7-B598-4F55-88C1-2C224DE6F7BC}"/>
              </a:ext>
            </a:extLst>
          </p:cNvPr>
          <p:cNvSpPr>
            <a:spLocks xmlns:a="http://schemas.openxmlformats.org/drawingml/2006/main" noGrp="1"/>
          </p:cNvSpPr>
          <p:nvPr/>
        </p:nvSpPr>
        <p:spPr>
          <a:xfrm xmlns:a="http://schemas.openxmlformats.org/drawingml/2006/main">
            <a:off x="1238250" y="5162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Principal</a:t>
            </a:r>
          </a:p>
        </p:txBody>
      </p:sp>
      <p:sp>
        <p:nvSpPr>
          <p:cNvPr id="22" name="">
            <a:extLst xmlns:a="http://schemas.openxmlformats.org/drawingml/2006/main">
              <a:ext uri="{FF2B5EF4-FFF2-40B4-BE49-F238E27FC236}">
                <a16:creationId xmlns:a16="http://schemas.microsoft.com/office/drawing/2014/main" id="{F3EB9995-92A3-4A9F-9896-1C856A394AAE}"/>
              </a:ext>
            </a:extLst>
          </p:cNvPr>
          <p:cNvSpPr>
            <a:spLocks xmlns:a="http://schemas.openxmlformats.org/drawingml/2006/main" noGrp="1"/>
          </p:cNvSpPr>
          <p:nvPr/>
        </p:nvSpPr>
        <p:spPr>
          <a:xfrm xmlns:a="http://schemas.openxmlformats.org/drawingml/2006/main">
            <a:off x="1238250" y="5410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The cash advanced when the repo opens.</a:t>
            </a:r>
          </a:p>
        </p:txBody>
      </p:sp>
      <p:sp>
        <p:nvSpPr>
          <p:cNvPr id="23" name="">
            <a:extLst xmlns:a="http://schemas.openxmlformats.org/drawingml/2006/main">
              <a:ext uri="{FF2B5EF4-FFF2-40B4-BE49-F238E27FC236}">
                <a16:creationId xmlns:a16="http://schemas.microsoft.com/office/drawing/2014/main" id="{0E448402-6F67-49EE-AC7C-0405EA6FF0D1}"/>
              </a:ext>
            </a:extLst>
          </p:cNvPr>
          <p:cNvSpPr>
            <a:spLocks xmlns:a="http://schemas.openxmlformats.org/drawingml/2006/main" noGrp="1"/>
          </p:cNvSpPr>
          <p:nvPr/>
        </p:nvSpPr>
        <p:spPr>
          <a:xfrm xmlns:a="http://schemas.openxmlformats.org/drawingml/2006/main">
            <a:off x="6477000" y="2914650"/>
            <a:ext cx="47625" cy="4953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24" name="">
            <a:extLst xmlns:a="http://schemas.openxmlformats.org/drawingml/2006/main">
              <a:ext uri="{FF2B5EF4-FFF2-40B4-BE49-F238E27FC236}">
                <a16:creationId xmlns:a16="http://schemas.microsoft.com/office/drawing/2014/main" id="{6AD8FF6E-9501-4520-AC71-09C47F4C552D}"/>
              </a:ext>
            </a:extLst>
          </p:cNvPr>
          <p:cNvSpPr>
            <a:spLocks xmlns:a="http://schemas.openxmlformats.org/drawingml/2006/main" noGrp="1"/>
          </p:cNvSpPr>
          <p:nvPr/>
        </p:nvSpPr>
        <p:spPr>
          <a:xfrm xmlns:a="http://schemas.openxmlformats.org/drawingml/2006/main">
            <a:off x="6648450" y="2876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Collateral</a:t>
            </a:r>
          </a:p>
        </p:txBody>
      </p:sp>
      <p:sp>
        <p:nvSpPr>
          <p:cNvPr id="25" name="">
            <a:extLst xmlns:a="http://schemas.openxmlformats.org/drawingml/2006/main">
              <a:ext uri="{FF2B5EF4-FFF2-40B4-BE49-F238E27FC236}">
                <a16:creationId xmlns:a16="http://schemas.microsoft.com/office/drawing/2014/main" id="{878C5833-BEBA-4C9C-B988-19F342D4259C}"/>
              </a:ext>
            </a:extLst>
          </p:cNvPr>
          <p:cNvSpPr>
            <a:spLocks xmlns:a="http://schemas.openxmlformats.org/drawingml/2006/main" noGrp="1"/>
          </p:cNvSpPr>
          <p:nvPr/>
        </p:nvSpPr>
        <p:spPr>
          <a:xfrm xmlns:a="http://schemas.openxmlformats.org/drawingml/2006/main">
            <a:off x="6648450" y="3124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Bonds locked to protect the lender while cash remains outstanding.</a:t>
            </a:r>
          </a:p>
        </p:txBody>
      </p:sp>
      <p:sp>
        <p:nvSpPr>
          <p:cNvPr id="26" name="">
            <a:extLst xmlns:a="http://schemas.openxmlformats.org/drawingml/2006/main">
              <a:ext uri="{FF2B5EF4-FFF2-40B4-BE49-F238E27FC236}">
                <a16:creationId xmlns:a16="http://schemas.microsoft.com/office/drawing/2014/main" id="{84EBBAB5-FF8F-4FAB-9F72-540A52E557C5}"/>
              </a:ext>
            </a:extLst>
          </p:cNvPr>
          <p:cNvSpPr>
            <a:spLocks xmlns:a="http://schemas.openxmlformats.org/drawingml/2006/main" noGrp="1"/>
          </p:cNvSpPr>
          <p:nvPr/>
        </p:nvSpPr>
        <p:spPr>
          <a:xfrm xmlns:a="http://schemas.openxmlformats.org/drawingml/2006/main">
            <a:off x="6477000" y="3676650"/>
            <a:ext cx="47625" cy="4953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27" name="">
            <a:extLst xmlns:a="http://schemas.openxmlformats.org/drawingml/2006/main">
              <a:ext uri="{FF2B5EF4-FFF2-40B4-BE49-F238E27FC236}">
                <a16:creationId xmlns:a16="http://schemas.microsoft.com/office/drawing/2014/main" id="{4AE061BE-1AE7-4511-BB18-4D7B983B1930}"/>
              </a:ext>
            </a:extLst>
          </p:cNvPr>
          <p:cNvSpPr>
            <a:spLocks xmlns:a="http://schemas.openxmlformats.org/drawingml/2006/main" noGrp="1"/>
          </p:cNvSpPr>
          <p:nvPr/>
        </p:nvSpPr>
        <p:spPr>
          <a:xfrm xmlns:a="http://schemas.openxmlformats.org/drawingml/2006/main">
            <a:off x="6648450" y="3638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Haircut</a:t>
            </a:r>
          </a:p>
        </p:txBody>
      </p:sp>
      <p:sp>
        <p:nvSpPr>
          <p:cNvPr id="28" name="">
            <a:extLst xmlns:a="http://schemas.openxmlformats.org/drawingml/2006/main">
              <a:ext uri="{FF2B5EF4-FFF2-40B4-BE49-F238E27FC236}">
                <a16:creationId xmlns:a16="http://schemas.microsoft.com/office/drawing/2014/main" id="{64989D5D-8DD8-4452-A647-E06D35168031}"/>
              </a:ext>
            </a:extLst>
          </p:cNvPr>
          <p:cNvSpPr>
            <a:spLocks xmlns:a="http://schemas.openxmlformats.org/drawingml/2006/main" noGrp="1"/>
          </p:cNvSpPr>
          <p:nvPr/>
        </p:nvSpPr>
        <p:spPr>
          <a:xfrm xmlns:a="http://schemas.openxmlformats.org/drawingml/2006/main">
            <a:off x="6648450" y="3886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A discount from market value that absorbs price and liquidity risk.</a:t>
            </a:r>
          </a:p>
        </p:txBody>
      </p:sp>
      <p:sp>
        <p:nvSpPr>
          <p:cNvPr id="29" name="">
            <a:extLst xmlns:a="http://schemas.openxmlformats.org/drawingml/2006/main">
              <a:ext uri="{FF2B5EF4-FFF2-40B4-BE49-F238E27FC236}">
                <a16:creationId xmlns:a16="http://schemas.microsoft.com/office/drawing/2014/main" id="{0068D101-4185-4F14-AEA7-89A75CB7EDA1}"/>
              </a:ext>
            </a:extLst>
          </p:cNvPr>
          <p:cNvSpPr>
            <a:spLocks xmlns:a="http://schemas.openxmlformats.org/drawingml/2006/main" noGrp="1"/>
          </p:cNvSpPr>
          <p:nvPr/>
        </p:nvSpPr>
        <p:spPr>
          <a:xfrm xmlns:a="http://schemas.openxmlformats.org/drawingml/2006/main">
            <a:off x="6477000" y="4438650"/>
            <a:ext cx="47625" cy="4953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30" name="">
            <a:extLst xmlns:a="http://schemas.openxmlformats.org/drawingml/2006/main">
              <a:ext uri="{FF2B5EF4-FFF2-40B4-BE49-F238E27FC236}">
                <a16:creationId xmlns:a16="http://schemas.microsoft.com/office/drawing/2014/main" id="{32C12BA8-7C90-4063-A8AF-DD323B1A0E86}"/>
              </a:ext>
            </a:extLst>
          </p:cNvPr>
          <p:cNvSpPr>
            <a:spLocks xmlns:a="http://schemas.openxmlformats.org/drawingml/2006/main" noGrp="1"/>
          </p:cNvSpPr>
          <p:nvPr/>
        </p:nvSpPr>
        <p:spPr>
          <a:xfrm xmlns:a="http://schemas.openxmlformats.org/drawingml/2006/main">
            <a:off x="6648450" y="4400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Repo rate</a:t>
            </a:r>
          </a:p>
        </p:txBody>
      </p:sp>
      <p:sp>
        <p:nvSpPr>
          <p:cNvPr id="31" name="">
            <a:extLst xmlns:a="http://schemas.openxmlformats.org/drawingml/2006/main">
              <a:ext uri="{FF2B5EF4-FFF2-40B4-BE49-F238E27FC236}">
                <a16:creationId xmlns:a16="http://schemas.microsoft.com/office/drawing/2014/main" id="{589A6056-E637-4624-883F-F42D6F0B98A8}"/>
              </a:ext>
            </a:extLst>
          </p:cNvPr>
          <p:cNvSpPr>
            <a:spLocks xmlns:a="http://schemas.openxmlformats.org/drawingml/2006/main" noGrp="1"/>
          </p:cNvSpPr>
          <p:nvPr/>
        </p:nvSpPr>
        <p:spPr>
          <a:xfrm xmlns:a="http://schemas.openxmlformats.org/drawingml/2006/main">
            <a:off x="6648450" y="4648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The annualized financing return offered by the lender.</a:t>
            </a:r>
          </a:p>
        </p:txBody>
      </p:sp>
      <p:sp>
        <p:nvSpPr>
          <p:cNvPr id="32" name="">
            <a:extLst xmlns:a="http://schemas.openxmlformats.org/drawingml/2006/main">
              <a:ext uri="{FF2B5EF4-FFF2-40B4-BE49-F238E27FC236}">
                <a16:creationId xmlns:a16="http://schemas.microsoft.com/office/drawing/2014/main" id="{8983B787-2A62-4A40-A093-F4995FE195C9}"/>
              </a:ext>
            </a:extLst>
          </p:cNvPr>
          <p:cNvSpPr>
            <a:spLocks xmlns:a="http://schemas.openxmlformats.org/drawingml/2006/main" noGrp="1"/>
          </p:cNvSpPr>
          <p:nvPr/>
        </p:nvSpPr>
        <p:spPr>
          <a:xfrm xmlns:a="http://schemas.openxmlformats.org/drawingml/2006/main">
            <a:off x="6477000" y="5200650"/>
            <a:ext cx="47625" cy="4953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33" name="">
            <a:extLst xmlns:a="http://schemas.openxmlformats.org/drawingml/2006/main">
              <a:ext uri="{FF2B5EF4-FFF2-40B4-BE49-F238E27FC236}">
                <a16:creationId xmlns:a16="http://schemas.microsoft.com/office/drawing/2014/main" id="{3DD3DE55-A163-44C7-A246-4564A73B608A}"/>
              </a:ext>
            </a:extLst>
          </p:cNvPr>
          <p:cNvSpPr>
            <a:spLocks xmlns:a="http://schemas.openxmlformats.org/drawingml/2006/main" noGrp="1"/>
          </p:cNvSpPr>
          <p:nvPr/>
        </p:nvSpPr>
        <p:spPr>
          <a:xfrm xmlns:a="http://schemas.openxmlformats.org/drawingml/2006/main">
            <a:off x="6648450" y="5162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Maturity</a:t>
            </a:r>
          </a:p>
        </p:txBody>
      </p:sp>
      <p:sp>
        <p:nvSpPr>
          <p:cNvPr id="34" name="">
            <a:extLst xmlns:a="http://schemas.openxmlformats.org/drawingml/2006/main">
              <a:ext uri="{FF2B5EF4-FFF2-40B4-BE49-F238E27FC236}">
                <a16:creationId xmlns:a16="http://schemas.microsoft.com/office/drawing/2014/main" id="{00A668AB-9452-437B-B25B-774036C4F9A5}"/>
              </a:ext>
            </a:extLst>
          </p:cNvPr>
          <p:cNvSpPr>
            <a:spLocks xmlns:a="http://schemas.openxmlformats.org/drawingml/2006/main" noGrp="1"/>
          </p:cNvSpPr>
          <p:nvPr/>
        </p:nvSpPr>
        <p:spPr>
          <a:xfrm xmlns:a="http://schemas.openxmlformats.org/drawingml/2006/main">
            <a:off x="6648450" y="5410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The deadline for repurchase, interest payment, and collateral return.</a:t>
            </a:r>
          </a:p>
        </p:txBody>
      </p:sp>
    </p:spTree>
    <p:extLst>
      <p:ext uri="{BB962C8B-B14F-4D97-AF65-F5344CB8AC3E}">
        <p14:creationId xmlns:p14="http://schemas.microsoft.com/office/powerpoint/2010/main" val="2027646384"/>
      </p:ext>
    </p:extLst>
  </p:cSld>
</p:sld>
</file>

<file path=ppt/slides/slide4.xml><?xml version="1.0" encoding="utf-8"?>
<p:sld xmlns:p="http://schemas.openxmlformats.org/presentationml/2006/main">
  <p:cSld>
    <p:bg>
      <p:bgPr>
        <a:solidFill xmlns:a="http://schemas.openxmlformats.org/drawingml/2006/main">
          <a:srgbClr val="F4F2E6"/>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FC59B139-C14E-4F09-891B-076F2929F52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2" name="">
            <a:extLst xmlns:a="http://schemas.openxmlformats.org/drawingml/2006/main">
              <a:ext uri="{FF2B5EF4-FFF2-40B4-BE49-F238E27FC236}">
                <a16:creationId xmlns:a16="http://schemas.microsoft.com/office/drawing/2014/main" id="{915A395A-6038-478B-9A3F-5AC3A4AA20CD}"/>
              </a:ext>
            </a:extLst>
          </p:cNvPr>
          <p:cNvSpPr>
            <a:spLocks xmlns:a="http://schemas.openxmlformats.org/drawingml/2006/main" noGrp="1"/>
          </p:cNvSpPr>
          <p:nvPr/>
        </p:nvSpPr>
        <p:spPr>
          <a:xfrm xmlns:a="http://schemas.openxmlformats.org/drawingml/2006/main">
            <a:off x="438150" y="323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9B57"/>
                </a:solidFill>
                <a:latin typeface="DIN Condensed"/>
                <a:ea typeface="DIN Condensed"/>
                <a:cs typeface="DIN Condensed"/>
              </a:defRPr>
            </a:pPr>
            <a:r>
              <a:rPr sz="1350" b="1">
                <a:solidFill>
                  <a:srgbClr val="E99B57"/>
                </a:solidFill>
                <a:latin typeface="DIN Condensed"/>
                <a:ea typeface="DIN Condensed"/>
                <a:cs typeface="DIN Condensed"/>
              </a:rPr>
              <a:t>04</a:t>
            </a:r>
          </a:p>
        </p:txBody>
      </p:sp>
      <p:sp>
        <p:nvSpPr>
          <p:cNvPr id="3" name="">
            <a:extLst xmlns:a="http://schemas.openxmlformats.org/drawingml/2006/main">
              <a:ext uri="{FF2B5EF4-FFF2-40B4-BE49-F238E27FC236}">
                <a16:creationId xmlns:a16="http://schemas.microsoft.com/office/drawing/2014/main" id="{17C74FE2-88B8-42F9-B6E6-52C2B7B354D3}"/>
              </a:ext>
            </a:extLst>
          </p:cNvPr>
          <p:cNvSpPr>
            <a:spLocks xmlns:a="http://schemas.openxmlformats.org/drawingml/2006/main" noGrp="1"/>
          </p:cNvSpPr>
          <p:nvPr/>
        </p:nvSpPr>
        <p:spPr>
          <a:xfrm xmlns:a="http://schemas.openxmlformats.org/drawingml/2006/main">
            <a:off x="1066800" y="24765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71817"/>
                </a:solidFill>
                <a:latin typeface="DIN Condensed"/>
                <a:ea typeface="DIN Condensed"/>
                <a:cs typeface="DIN Condensed"/>
              </a:defRPr>
            </a:pPr>
            <a:r>
              <a:rPr sz="3300" b="1">
                <a:solidFill>
                  <a:srgbClr val="171817"/>
                </a:solidFill>
                <a:latin typeface="DIN Condensed"/>
                <a:ea typeface="DIN Condensed"/>
                <a:cs typeface="DIN Condensed"/>
              </a:rPr>
              <a:t>Compliance, risk, and settlement terms</a:t>
            </a:r>
          </a:p>
        </p:txBody>
      </p:sp>
      <p:sp>
        <p:nvSpPr>
          <p:cNvPr id="4" name="">
            <a:extLst xmlns:a="http://schemas.openxmlformats.org/drawingml/2006/main">
              <a:ext uri="{FF2B5EF4-FFF2-40B4-BE49-F238E27FC236}">
                <a16:creationId xmlns:a16="http://schemas.microsoft.com/office/drawing/2014/main" id="{F3A8D0EF-9603-40B7-AEC7-D88EF4030663}"/>
              </a:ext>
            </a:extLst>
          </p:cNvPr>
          <p:cNvSpPr>
            <a:spLocks xmlns:a="http://schemas.openxmlformats.org/drawingml/2006/main" noGrp="1"/>
          </p:cNvSpPr>
          <p:nvPr/>
        </p:nvSpPr>
        <p:spPr>
          <a:xfrm xmlns:a="http://schemas.openxmlformats.org/drawingml/2006/main">
            <a:off x="1085850" y="8191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8655D"/>
                </a:solidFill>
                <a:latin typeface="Helvetica Neue"/>
                <a:ea typeface="Helvetica Neue"/>
                <a:cs typeface="Helvetica Neue"/>
              </a:defRPr>
            </a:pPr>
            <a:r>
              <a:rPr sz="1425" b="0">
                <a:solidFill>
                  <a:srgbClr val="58655D"/>
                </a:solidFill>
                <a:latin typeface="Helvetica Neue"/>
                <a:ea typeface="Helvetica Neue"/>
                <a:cs typeface="Helvetica Neue"/>
              </a:rPr>
              <a:t>Every transition rechecks the rules that matter for that operation.</a:t>
            </a:r>
          </a:p>
        </p:txBody>
      </p:sp>
      <p:sp>
        <p:nvSpPr>
          <p:cNvPr id="5" name="">
            <a:extLst xmlns:a="http://schemas.openxmlformats.org/drawingml/2006/main">
              <a:ext uri="{FF2B5EF4-FFF2-40B4-BE49-F238E27FC236}">
                <a16:creationId xmlns:a16="http://schemas.microsoft.com/office/drawing/2014/main" id="{AB7DDC00-FB07-4E6B-9CA4-7F11D6D38AE8}"/>
              </a:ext>
            </a:extLst>
          </p:cNvPr>
          <p:cNvSpPr>
            <a:spLocks xmlns:a="http://schemas.openxmlformats.org/drawingml/2006/main" noGrp="1"/>
          </p:cNvSpPr>
          <p:nvPr/>
        </p:nvSpPr>
        <p:spPr>
          <a:xfrm xmlns:a="http://schemas.openxmlformats.org/drawingml/2006/main">
            <a:off x="11049000" y="3429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DIN Condensed"/>
                <a:ea typeface="DIN Condensed"/>
                <a:cs typeface="DIN Condensed"/>
              </a:defRPr>
            </a:pPr>
            <a:r>
              <a:rPr sz="1350" b="1">
                <a:solidFill>
                  <a:srgbClr val="171817"/>
                </a:solidFill>
                <a:latin typeface="DIN Condensed"/>
                <a:ea typeface="DIN Condensed"/>
                <a:cs typeface="DIN Condensed"/>
              </a:rPr>
              <a:t>SWAN</a:t>
            </a:r>
          </a:p>
        </p:txBody>
      </p:sp>
      <p:sp>
        <p:nvSpPr>
          <p:cNvPr id="6" name="">
            <a:extLst xmlns:a="http://schemas.openxmlformats.org/drawingml/2006/main">
              <a:ext uri="{FF2B5EF4-FFF2-40B4-BE49-F238E27FC236}">
                <a16:creationId xmlns:a16="http://schemas.microsoft.com/office/drawing/2014/main" id="{A06C85C6-A694-4473-A272-AAF59E08AD1F}"/>
              </a:ext>
            </a:extLst>
          </p:cNvPr>
          <p:cNvSpPr>
            <a:spLocks xmlns:a="http://schemas.openxmlformats.org/drawingml/2006/main" noGrp="1"/>
          </p:cNvSpPr>
          <p:nvPr/>
        </p:nvSpPr>
        <p:spPr>
          <a:xfrm xmlns:a="http://schemas.openxmlformats.org/drawingml/2006/main">
            <a:off x="1066800" y="1162050"/>
            <a:ext cx="10668000" cy="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7" name="">
            <a:extLst xmlns:a="http://schemas.openxmlformats.org/drawingml/2006/main">
              <a:ext uri="{FF2B5EF4-FFF2-40B4-BE49-F238E27FC236}">
                <a16:creationId xmlns:a16="http://schemas.microsoft.com/office/drawing/2014/main" id="{4F0A11E6-4C76-404F-A572-851114F0EA4A}"/>
              </a:ext>
            </a:extLst>
          </p:cNvPr>
          <p:cNvSpPr>
            <a:spLocks xmlns:a="http://schemas.openxmlformats.org/drawingml/2006/main" noGrp="1"/>
          </p:cNvSpPr>
          <p:nvPr/>
        </p:nvSpPr>
        <p:spPr>
          <a:xfrm xmlns:a="http://schemas.openxmlformats.org/drawingml/2006/main">
            <a:off x="1066800" y="1524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3F7656"/>
                </a:solidFill>
                <a:latin typeface="DIN Condensed"/>
                <a:ea typeface="DIN Condensed"/>
                <a:cs typeface="DIN Condensed"/>
              </a:defRPr>
            </a:pPr>
            <a:r>
              <a:rPr sz="1800" b="1">
                <a:solidFill>
                  <a:srgbClr val="3F7656"/>
                </a:solidFill>
                <a:latin typeface="DIN Condensed"/>
                <a:ea typeface="DIN Condensed"/>
                <a:cs typeface="DIN Condensed"/>
              </a:rPr>
              <a:t>ACCESS</a:t>
            </a:r>
          </a:p>
        </p:txBody>
      </p:sp>
      <p:sp>
        <p:nvSpPr>
          <p:cNvPr id="8" name="">
            <a:extLst xmlns:a="http://schemas.openxmlformats.org/drawingml/2006/main">
              <a:ext uri="{FF2B5EF4-FFF2-40B4-BE49-F238E27FC236}">
                <a16:creationId xmlns:a16="http://schemas.microsoft.com/office/drawing/2014/main" id="{9E380410-76B7-4A3F-9904-52CDA066B5AA}"/>
              </a:ext>
            </a:extLst>
          </p:cNvPr>
          <p:cNvSpPr>
            <a:spLocks xmlns:a="http://schemas.openxmlformats.org/drawingml/2006/main" noGrp="1"/>
          </p:cNvSpPr>
          <p:nvPr/>
        </p:nvSpPr>
        <p:spPr>
          <a:xfrm xmlns:a="http://schemas.openxmlformats.org/drawingml/2006/main">
            <a:off x="4476750" y="1524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E99B57"/>
                </a:solidFill>
                <a:latin typeface="DIN Condensed"/>
                <a:ea typeface="DIN Condensed"/>
                <a:cs typeface="DIN Condensed"/>
              </a:defRPr>
            </a:pPr>
            <a:r>
              <a:rPr sz="1800" b="1">
                <a:solidFill>
                  <a:srgbClr val="E99B57"/>
                </a:solidFill>
                <a:latin typeface="DIN Condensed"/>
                <a:ea typeface="DIN Condensed"/>
                <a:cs typeface="DIN Condensed"/>
              </a:rPr>
              <a:t>RISK</a:t>
            </a:r>
          </a:p>
        </p:txBody>
      </p:sp>
      <p:sp>
        <p:nvSpPr>
          <p:cNvPr id="9" name="">
            <a:extLst xmlns:a="http://schemas.openxmlformats.org/drawingml/2006/main">
              <a:ext uri="{FF2B5EF4-FFF2-40B4-BE49-F238E27FC236}">
                <a16:creationId xmlns:a16="http://schemas.microsoft.com/office/drawing/2014/main" id="{08B87F22-ADCF-4150-B1A8-021EF3807C63}"/>
              </a:ext>
            </a:extLst>
          </p:cNvPr>
          <p:cNvSpPr>
            <a:spLocks xmlns:a="http://schemas.openxmlformats.org/drawingml/2006/main" noGrp="1"/>
          </p:cNvSpPr>
          <p:nvPr/>
        </p:nvSpPr>
        <p:spPr>
          <a:xfrm xmlns:a="http://schemas.openxmlformats.org/drawingml/2006/main">
            <a:off x="7886700" y="152400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B85B55"/>
                </a:solidFill>
                <a:latin typeface="DIN Condensed"/>
                <a:ea typeface="DIN Condensed"/>
                <a:cs typeface="DIN Condensed"/>
              </a:defRPr>
            </a:pPr>
            <a:r>
              <a:rPr sz="1800" b="1">
                <a:solidFill>
                  <a:srgbClr val="B85B55"/>
                </a:solidFill>
                <a:latin typeface="DIN Condensed"/>
                <a:ea typeface="DIN Condensed"/>
                <a:cs typeface="DIN Condensed"/>
              </a:rPr>
              <a:t>SETTLEMENT</a:t>
            </a:r>
          </a:p>
        </p:txBody>
      </p:sp>
      <p:sp>
        <p:nvSpPr>
          <p:cNvPr id="10" name="">
            <a:extLst xmlns:a="http://schemas.openxmlformats.org/drawingml/2006/main">
              <a:ext uri="{FF2B5EF4-FFF2-40B4-BE49-F238E27FC236}">
                <a16:creationId xmlns:a16="http://schemas.microsoft.com/office/drawing/2014/main" id="{AB2D81FA-3CEC-494F-96FE-9CF5FF8B3EBA}"/>
              </a:ext>
            </a:extLst>
          </p:cNvPr>
          <p:cNvSpPr>
            <a:spLocks xmlns:a="http://schemas.openxmlformats.org/drawingml/2006/main" noGrp="1"/>
          </p:cNvSpPr>
          <p:nvPr/>
        </p:nvSpPr>
        <p:spPr>
          <a:xfrm xmlns:a="http://schemas.openxmlformats.org/drawingml/2006/main">
            <a:off x="4210050" y="1504950"/>
            <a:ext cx="0" cy="468630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11" name="">
            <a:extLst xmlns:a="http://schemas.openxmlformats.org/drawingml/2006/main">
              <a:ext uri="{FF2B5EF4-FFF2-40B4-BE49-F238E27FC236}">
                <a16:creationId xmlns:a16="http://schemas.microsoft.com/office/drawing/2014/main" id="{3E505F48-64AB-4618-8D03-1D70D7F4DEF6}"/>
              </a:ext>
            </a:extLst>
          </p:cNvPr>
          <p:cNvSpPr>
            <a:spLocks xmlns:a="http://schemas.openxmlformats.org/drawingml/2006/main" noGrp="1"/>
          </p:cNvSpPr>
          <p:nvPr/>
        </p:nvSpPr>
        <p:spPr>
          <a:xfrm xmlns:a="http://schemas.openxmlformats.org/drawingml/2006/main">
            <a:off x="7620000" y="1504950"/>
            <a:ext cx="0" cy="468630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12" name="">
            <a:extLst xmlns:a="http://schemas.openxmlformats.org/drawingml/2006/main">
              <a:ext uri="{FF2B5EF4-FFF2-40B4-BE49-F238E27FC236}">
                <a16:creationId xmlns:a16="http://schemas.microsoft.com/office/drawing/2014/main" id="{21B48857-CBB0-4EF3-979B-74C8610BB717}"/>
              </a:ext>
            </a:extLst>
          </p:cNvPr>
          <p:cNvSpPr>
            <a:spLocks xmlns:a="http://schemas.openxmlformats.org/drawingml/2006/main" noGrp="1"/>
          </p:cNvSpPr>
          <p:nvPr/>
        </p:nvSpPr>
        <p:spPr>
          <a:xfrm xmlns:a="http://schemas.openxmlformats.org/drawingml/2006/main">
            <a:off x="1066800" y="2133600"/>
            <a:ext cx="47625" cy="495300"/>
          </a:xfrm>
          <a:prstGeom xmlns:a="http://schemas.openxmlformats.org/drawingml/2006/main" prst="rect">
            <a:avLst/>
          </a:prstGeom>
          <a:solidFill xmlns:a="http://schemas.openxmlformats.org/drawingml/2006/main">
            <a:srgbClr val="3F7656"/>
          </a:solidFill>
          <a:ln xmlns:a="http://schemas.openxmlformats.org/drawingml/2006/main" w="0">
            <a:solidFill>
              <a:srgbClr val="3F7656"/>
            </a:solidFill>
            <a:prstDash val="solid"/>
          </a:ln>
        </p:spPr>
      </p:sp>
      <p:sp>
        <p:nvSpPr>
          <p:cNvPr id="13" name="">
            <a:extLst xmlns:a="http://schemas.openxmlformats.org/drawingml/2006/main">
              <a:ext uri="{FF2B5EF4-FFF2-40B4-BE49-F238E27FC236}">
                <a16:creationId xmlns:a16="http://schemas.microsoft.com/office/drawing/2014/main" id="{449054CD-88B2-4BE6-B53D-6ECA039EFA94}"/>
              </a:ext>
            </a:extLst>
          </p:cNvPr>
          <p:cNvSpPr>
            <a:spLocks xmlns:a="http://schemas.openxmlformats.org/drawingml/2006/main" noGrp="1"/>
          </p:cNvSpPr>
          <p:nvPr/>
        </p:nvSpPr>
        <p:spPr>
          <a:xfrm xmlns:a="http://schemas.openxmlformats.org/drawingml/2006/main">
            <a:off x="1238250" y="20955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KYC</a:t>
            </a:r>
          </a:p>
        </p:txBody>
      </p:sp>
      <p:sp>
        <p:nvSpPr>
          <p:cNvPr id="14" name="">
            <a:extLst xmlns:a="http://schemas.openxmlformats.org/drawingml/2006/main">
              <a:ext uri="{FF2B5EF4-FFF2-40B4-BE49-F238E27FC236}">
                <a16:creationId xmlns:a16="http://schemas.microsoft.com/office/drawing/2014/main" id="{6D3B65B4-96CC-4332-8B09-24A0BBD8322B}"/>
              </a:ext>
            </a:extLst>
          </p:cNvPr>
          <p:cNvSpPr>
            <a:spLocks xmlns:a="http://schemas.openxmlformats.org/drawingml/2006/main" noGrp="1"/>
          </p:cNvSpPr>
          <p:nvPr/>
        </p:nvSpPr>
        <p:spPr>
          <a:xfrm xmlns:a="http://schemas.openxmlformats.org/drawingml/2006/main">
            <a:off x="1238250" y="2343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Identity and eligibility approval for each participant.</a:t>
            </a:r>
          </a:p>
        </p:txBody>
      </p:sp>
      <p:sp>
        <p:nvSpPr>
          <p:cNvPr id="15" name="">
            <a:extLst xmlns:a="http://schemas.openxmlformats.org/drawingml/2006/main">
              <a:ext uri="{FF2B5EF4-FFF2-40B4-BE49-F238E27FC236}">
                <a16:creationId xmlns:a16="http://schemas.microsoft.com/office/drawing/2014/main" id="{31C795EA-1517-4193-B1C1-40DD585995A8}"/>
              </a:ext>
            </a:extLst>
          </p:cNvPr>
          <p:cNvSpPr>
            <a:spLocks xmlns:a="http://schemas.openxmlformats.org/drawingml/2006/main" noGrp="1"/>
          </p:cNvSpPr>
          <p:nvPr/>
        </p:nvSpPr>
        <p:spPr>
          <a:xfrm xmlns:a="http://schemas.openxmlformats.org/drawingml/2006/main">
            <a:off x="1066800" y="3086100"/>
            <a:ext cx="47625" cy="495300"/>
          </a:xfrm>
          <a:prstGeom xmlns:a="http://schemas.openxmlformats.org/drawingml/2006/main" prst="rect">
            <a:avLst/>
          </a:prstGeom>
          <a:solidFill xmlns:a="http://schemas.openxmlformats.org/drawingml/2006/main">
            <a:srgbClr val="3F7656"/>
          </a:solidFill>
          <a:ln xmlns:a="http://schemas.openxmlformats.org/drawingml/2006/main" w="0">
            <a:solidFill>
              <a:srgbClr val="3F7656"/>
            </a:solidFill>
            <a:prstDash val="solid"/>
          </a:ln>
        </p:spPr>
      </p:sp>
      <p:sp>
        <p:nvSpPr>
          <p:cNvPr id="16" name="">
            <a:extLst xmlns:a="http://schemas.openxmlformats.org/drawingml/2006/main">
              <a:ext uri="{FF2B5EF4-FFF2-40B4-BE49-F238E27FC236}">
                <a16:creationId xmlns:a16="http://schemas.microsoft.com/office/drawing/2014/main" id="{117811F8-5553-4B05-A3F7-97541417B24A}"/>
              </a:ext>
            </a:extLst>
          </p:cNvPr>
          <p:cNvSpPr>
            <a:spLocks xmlns:a="http://schemas.openxmlformats.org/drawingml/2006/main" noGrp="1"/>
          </p:cNvSpPr>
          <p:nvPr/>
        </p:nvSpPr>
        <p:spPr>
          <a:xfrm xmlns:a="http://schemas.openxmlformats.org/drawingml/2006/main">
            <a:off x="1238250" y="30480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Pause</a:t>
            </a:r>
          </a:p>
        </p:txBody>
      </p:sp>
      <p:sp>
        <p:nvSpPr>
          <p:cNvPr id="17" name="">
            <a:extLst xmlns:a="http://schemas.openxmlformats.org/drawingml/2006/main">
              <a:ext uri="{FF2B5EF4-FFF2-40B4-BE49-F238E27FC236}">
                <a16:creationId xmlns:a16="http://schemas.microsoft.com/office/drawing/2014/main" id="{C0B7E837-A055-4BBC-A4E9-1AB03530B31A}"/>
              </a:ext>
            </a:extLst>
          </p:cNvPr>
          <p:cNvSpPr>
            <a:spLocks xmlns:a="http://schemas.openxmlformats.org/drawingml/2006/main" noGrp="1"/>
          </p:cNvSpPr>
          <p:nvPr/>
        </p:nvSpPr>
        <p:spPr>
          <a:xfrm xmlns:a="http://schemas.openxmlformats.org/drawingml/2006/main">
            <a:off x="1238250" y="3295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An issuer-wide stop on new transfers or lifecycle actions.</a:t>
            </a:r>
          </a:p>
        </p:txBody>
      </p:sp>
      <p:sp>
        <p:nvSpPr>
          <p:cNvPr id="18" name="">
            <a:extLst xmlns:a="http://schemas.openxmlformats.org/drawingml/2006/main">
              <a:ext uri="{FF2B5EF4-FFF2-40B4-BE49-F238E27FC236}">
                <a16:creationId xmlns:a16="http://schemas.microsoft.com/office/drawing/2014/main" id="{CBC366F0-4A53-4216-9CC0-D99B9DCD93B3}"/>
              </a:ext>
            </a:extLst>
          </p:cNvPr>
          <p:cNvSpPr>
            <a:spLocks xmlns:a="http://schemas.openxmlformats.org/drawingml/2006/main" noGrp="1"/>
          </p:cNvSpPr>
          <p:nvPr/>
        </p:nvSpPr>
        <p:spPr>
          <a:xfrm xmlns:a="http://schemas.openxmlformats.org/drawingml/2006/main">
            <a:off x="1066800" y="4038600"/>
            <a:ext cx="47625" cy="495300"/>
          </a:xfrm>
          <a:prstGeom xmlns:a="http://schemas.openxmlformats.org/drawingml/2006/main" prst="rect">
            <a:avLst/>
          </a:prstGeom>
          <a:solidFill xmlns:a="http://schemas.openxmlformats.org/drawingml/2006/main">
            <a:srgbClr val="3F7656"/>
          </a:solidFill>
          <a:ln xmlns:a="http://schemas.openxmlformats.org/drawingml/2006/main" w="0">
            <a:solidFill>
              <a:srgbClr val="3F7656"/>
            </a:solidFill>
            <a:prstDash val="solid"/>
          </a:ln>
        </p:spPr>
      </p:sp>
      <p:sp>
        <p:nvSpPr>
          <p:cNvPr id="19" name="">
            <a:extLst xmlns:a="http://schemas.openxmlformats.org/drawingml/2006/main">
              <a:ext uri="{FF2B5EF4-FFF2-40B4-BE49-F238E27FC236}">
                <a16:creationId xmlns:a16="http://schemas.microsoft.com/office/drawing/2014/main" id="{562546AD-33E1-402E-9433-8FB3EA68904C}"/>
              </a:ext>
            </a:extLst>
          </p:cNvPr>
          <p:cNvSpPr>
            <a:spLocks xmlns:a="http://schemas.openxmlformats.org/drawingml/2006/main" noGrp="1"/>
          </p:cNvSpPr>
          <p:nvPr/>
        </p:nvSpPr>
        <p:spPr>
          <a:xfrm xmlns:a="http://schemas.openxmlformats.org/drawingml/2006/main">
            <a:off x="1238250" y="40005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Freeze</a:t>
            </a:r>
          </a:p>
        </p:txBody>
      </p:sp>
      <p:sp>
        <p:nvSpPr>
          <p:cNvPr id="20" name="">
            <a:extLst xmlns:a="http://schemas.openxmlformats.org/drawingml/2006/main">
              <a:ext uri="{FF2B5EF4-FFF2-40B4-BE49-F238E27FC236}">
                <a16:creationId xmlns:a16="http://schemas.microsoft.com/office/drawing/2014/main" id="{CCF28723-9A96-43DB-9F60-A2ED21D42524}"/>
              </a:ext>
            </a:extLst>
          </p:cNvPr>
          <p:cNvSpPr>
            <a:spLocks xmlns:a="http://schemas.openxmlformats.org/drawingml/2006/main" noGrp="1"/>
          </p:cNvSpPr>
          <p:nvPr/>
        </p:nvSpPr>
        <p:spPr>
          <a:xfrm xmlns:a="http://schemas.openxmlformats.org/drawingml/2006/main">
            <a:off x="1238250" y="4248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A transfer restriction applied to a specific account.</a:t>
            </a:r>
          </a:p>
        </p:txBody>
      </p:sp>
      <p:sp>
        <p:nvSpPr>
          <p:cNvPr id="21" name="">
            <a:extLst xmlns:a="http://schemas.openxmlformats.org/drawingml/2006/main">
              <a:ext uri="{FF2B5EF4-FFF2-40B4-BE49-F238E27FC236}">
                <a16:creationId xmlns:a16="http://schemas.microsoft.com/office/drawing/2014/main" id="{66530366-4966-41C4-B8E5-5DC896693EF6}"/>
              </a:ext>
            </a:extLst>
          </p:cNvPr>
          <p:cNvSpPr>
            <a:spLocks xmlns:a="http://schemas.openxmlformats.org/drawingml/2006/main" noGrp="1"/>
          </p:cNvSpPr>
          <p:nvPr/>
        </p:nvSpPr>
        <p:spPr>
          <a:xfrm xmlns:a="http://schemas.openxmlformats.org/drawingml/2006/main">
            <a:off x="1066800" y="4991100"/>
            <a:ext cx="47625" cy="495300"/>
          </a:xfrm>
          <a:prstGeom xmlns:a="http://schemas.openxmlformats.org/drawingml/2006/main" prst="rect">
            <a:avLst/>
          </a:prstGeom>
          <a:solidFill xmlns:a="http://schemas.openxmlformats.org/drawingml/2006/main">
            <a:srgbClr val="3F7656"/>
          </a:solidFill>
          <a:ln xmlns:a="http://schemas.openxmlformats.org/drawingml/2006/main" w="0">
            <a:solidFill>
              <a:srgbClr val="3F7656"/>
            </a:solidFill>
            <a:prstDash val="solid"/>
          </a:ln>
        </p:spPr>
      </p:sp>
      <p:sp>
        <p:nvSpPr>
          <p:cNvPr id="22" name="">
            <a:extLst xmlns:a="http://schemas.openxmlformats.org/drawingml/2006/main">
              <a:ext uri="{FF2B5EF4-FFF2-40B4-BE49-F238E27FC236}">
                <a16:creationId xmlns:a16="http://schemas.microsoft.com/office/drawing/2014/main" id="{AC053171-9ED1-4F2B-AFA8-1813FC5F19BD}"/>
              </a:ext>
            </a:extLst>
          </p:cNvPr>
          <p:cNvSpPr>
            <a:spLocks xmlns:a="http://schemas.openxmlformats.org/drawingml/2006/main" noGrp="1"/>
          </p:cNvSpPr>
          <p:nvPr/>
        </p:nvSpPr>
        <p:spPr>
          <a:xfrm xmlns:a="http://schemas.openxmlformats.org/drawingml/2006/main">
            <a:off x="1238250" y="49530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Concentration limit</a:t>
            </a:r>
          </a:p>
        </p:txBody>
      </p:sp>
      <p:sp>
        <p:nvSpPr>
          <p:cNvPr id="23" name="">
            <a:extLst xmlns:a="http://schemas.openxmlformats.org/drawingml/2006/main">
              <a:ext uri="{FF2B5EF4-FFF2-40B4-BE49-F238E27FC236}">
                <a16:creationId xmlns:a16="http://schemas.microsoft.com/office/drawing/2014/main" id="{7073081F-3CCC-40EE-9C34-FCAB033ED4DC}"/>
              </a:ext>
            </a:extLst>
          </p:cNvPr>
          <p:cNvSpPr>
            <a:spLocks xmlns:a="http://schemas.openxmlformats.org/drawingml/2006/main" noGrp="1"/>
          </p:cNvSpPr>
          <p:nvPr/>
        </p:nvSpPr>
        <p:spPr>
          <a:xfrm xmlns:a="http://schemas.openxmlformats.org/drawingml/2006/main">
            <a:off x="1238250" y="5200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The maximum share that one bond series may contribute.</a:t>
            </a:r>
          </a:p>
        </p:txBody>
      </p:sp>
      <p:sp>
        <p:nvSpPr>
          <p:cNvPr id="24" name="">
            <a:extLst xmlns:a="http://schemas.openxmlformats.org/drawingml/2006/main">
              <a:ext uri="{FF2B5EF4-FFF2-40B4-BE49-F238E27FC236}">
                <a16:creationId xmlns:a16="http://schemas.microsoft.com/office/drawing/2014/main" id="{76B29035-5811-4D97-8198-D5456DE06982}"/>
              </a:ext>
            </a:extLst>
          </p:cNvPr>
          <p:cNvSpPr>
            <a:spLocks xmlns:a="http://schemas.openxmlformats.org/drawingml/2006/main" noGrp="1"/>
          </p:cNvSpPr>
          <p:nvPr/>
        </p:nvSpPr>
        <p:spPr>
          <a:xfrm xmlns:a="http://schemas.openxmlformats.org/drawingml/2006/main">
            <a:off x="4476750" y="213360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25" name="">
            <a:extLst xmlns:a="http://schemas.openxmlformats.org/drawingml/2006/main">
              <a:ext uri="{FF2B5EF4-FFF2-40B4-BE49-F238E27FC236}">
                <a16:creationId xmlns:a16="http://schemas.microsoft.com/office/drawing/2014/main" id="{D2E0DB61-9E04-425E-BA89-4D17BAD8BFDE}"/>
              </a:ext>
            </a:extLst>
          </p:cNvPr>
          <p:cNvSpPr>
            <a:spLocks xmlns:a="http://schemas.openxmlformats.org/drawingml/2006/main" noGrp="1"/>
          </p:cNvSpPr>
          <p:nvPr/>
        </p:nvSpPr>
        <p:spPr>
          <a:xfrm xmlns:a="http://schemas.openxmlformats.org/drawingml/2006/main">
            <a:off x="4648200" y="20955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Oracle</a:t>
            </a:r>
          </a:p>
        </p:txBody>
      </p:sp>
      <p:sp>
        <p:nvSpPr>
          <p:cNvPr id="26" name="">
            <a:extLst xmlns:a="http://schemas.openxmlformats.org/drawingml/2006/main">
              <a:ext uri="{FF2B5EF4-FFF2-40B4-BE49-F238E27FC236}">
                <a16:creationId xmlns:a16="http://schemas.microsoft.com/office/drawing/2014/main" id="{5398170F-A932-49C3-BA4E-E439C8AFC380}"/>
              </a:ext>
            </a:extLst>
          </p:cNvPr>
          <p:cNvSpPr>
            <a:spLocks xmlns:a="http://schemas.openxmlformats.org/drawingml/2006/main" noGrp="1"/>
          </p:cNvSpPr>
          <p:nvPr/>
        </p:nvSpPr>
        <p:spPr>
          <a:xfrm xmlns:a="http://schemas.openxmlformats.org/drawingml/2006/main">
            <a:off x="4648200" y="2343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An authenticated source for current bond prices.</a:t>
            </a:r>
          </a:p>
        </p:txBody>
      </p:sp>
      <p:sp>
        <p:nvSpPr>
          <p:cNvPr id="27" name="">
            <a:extLst xmlns:a="http://schemas.openxmlformats.org/drawingml/2006/main">
              <a:ext uri="{FF2B5EF4-FFF2-40B4-BE49-F238E27FC236}">
                <a16:creationId xmlns:a16="http://schemas.microsoft.com/office/drawing/2014/main" id="{6F9E9A98-93FB-43BA-AAB0-C73EA549B5B1}"/>
              </a:ext>
            </a:extLst>
          </p:cNvPr>
          <p:cNvSpPr>
            <a:spLocks xmlns:a="http://schemas.openxmlformats.org/drawingml/2006/main" noGrp="1"/>
          </p:cNvSpPr>
          <p:nvPr/>
        </p:nvSpPr>
        <p:spPr>
          <a:xfrm xmlns:a="http://schemas.openxmlformats.org/drawingml/2006/main">
            <a:off x="4476750" y="308610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28" name="">
            <a:extLst xmlns:a="http://schemas.openxmlformats.org/drawingml/2006/main">
              <a:ext uri="{FF2B5EF4-FFF2-40B4-BE49-F238E27FC236}">
                <a16:creationId xmlns:a16="http://schemas.microsoft.com/office/drawing/2014/main" id="{1E841F1F-FEDE-4B6E-BD34-08D7DAE50E09}"/>
              </a:ext>
            </a:extLst>
          </p:cNvPr>
          <p:cNvSpPr>
            <a:spLocks xmlns:a="http://schemas.openxmlformats.org/drawingml/2006/main" noGrp="1"/>
          </p:cNvSpPr>
          <p:nvPr/>
        </p:nvSpPr>
        <p:spPr>
          <a:xfrm xmlns:a="http://schemas.openxmlformats.org/drawingml/2006/main">
            <a:off x="4648200" y="30480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Maintenance coverage</a:t>
            </a:r>
          </a:p>
        </p:txBody>
      </p:sp>
      <p:sp>
        <p:nvSpPr>
          <p:cNvPr id="29" name="">
            <a:extLst xmlns:a="http://schemas.openxmlformats.org/drawingml/2006/main">
              <a:ext uri="{FF2B5EF4-FFF2-40B4-BE49-F238E27FC236}">
                <a16:creationId xmlns:a16="http://schemas.microsoft.com/office/drawing/2014/main" id="{D08A2A32-B80D-4215-A287-AAD7D87D5161}"/>
              </a:ext>
            </a:extLst>
          </p:cNvPr>
          <p:cNvSpPr>
            <a:spLocks xmlns:a="http://schemas.openxmlformats.org/drawingml/2006/main" noGrp="1"/>
          </p:cNvSpPr>
          <p:nvPr/>
        </p:nvSpPr>
        <p:spPr>
          <a:xfrm xmlns:a="http://schemas.openxmlformats.org/drawingml/2006/main">
            <a:off x="4648200" y="3295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Minimum collateral capacity required after funding.</a:t>
            </a:r>
          </a:p>
        </p:txBody>
      </p:sp>
      <p:sp>
        <p:nvSpPr>
          <p:cNvPr id="30" name="">
            <a:extLst xmlns:a="http://schemas.openxmlformats.org/drawingml/2006/main">
              <a:ext uri="{FF2B5EF4-FFF2-40B4-BE49-F238E27FC236}">
                <a16:creationId xmlns:a16="http://schemas.microsoft.com/office/drawing/2014/main" id="{99B68A33-B3B0-4CA8-A535-2F7300CD6FEE}"/>
              </a:ext>
            </a:extLst>
          </p:cNvPr>
          <p:cNvSpPr>
            <a:spLocks xmlns:a="http://schemas.openxmlformats.org/drawingml/2006/main" noGrp="1"/>
          </p:cNvSpPr>
          <p:nvPr/>
        </p:nvSpPr>
        <p:spPr>
          <a:xfrm xmlns:a="http://schemas.openxmlformats.org/drawingml/2006/main">
            <a:off x="4476750" y="403860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31" name="">
            <a:extLst xmlns:a="http://schemas.openxmlformats.org/drawingml/2006/main">
              <a:ext uri="{FF2B5EF4-FFF2-40B4-BE49-F238E27FC236}">
                <a16:creationId xmlns:a16="http://schemas.microsoft.com/office/drawing/2014/main" id="{E7EB4A24-B4A8-4A63-9B5F-E98C20ACDA64}"/>
              </a:ext>
            </a:extLst>
          </p:cNvPr>
          <p:cNvSpPr>
            <a:spLocks xmlns:a="http://schemas.openxmlformats.org/drawingml/2006/main" noGrp="1"/>
          </p:cNvSpPr>
          <p:nvPr/>
        </p:nvSpPr>
        <p:spPr>
          <a:xfrm xmlns:a="http://schemas.openxmlformats.org/drawingml/2006/main">
            <a:off x="4648200" y="40005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Margin call</a:t>
            </a:r>
          </a:p>
        </p:txBody>
      </p:sp>
      <p:sp>
        <p:nvSpPr>
          <p:cNvPr id="32" name="">
            <a:extLst xmlns:a="http://schemas.openxmlformats.org/drawingml/2006/main">
              <a:ext uri="{FF2B5EF4-FFF2-40B4-BE49-F238E27FC236}">
                <a16:creationId xmlns:a16="http://schemas.microsoft.com/office/drawing/2014/main" id="{C31061CF-95F5-4AFF-B534-D4C3113D828E}"/>
              </a:ext>
            </a:extLst>
          </p:cNvPr>
          <p:cNvSpPr>
            <a:spLocks xmlns:a="http://schemas.openxmlformats.org/drawingml/2006/main" noGrp="1"/>
          </p:cNvSpPr>
          <p:nvPr/>
        </p:nvSpPr>
        <p:spPr>
          <a:xfrm xmlns:a="http://schemas.openxmlformats.org/drawingml/2006/main">
            <a:off x="4648200" y="4248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A timed demand to restore coverage after a price fall.</a:t>
            </a:r>
          </a:p>
        </p:txBody>
      </p:sp>
      <p:sp>
        <p:nvSpPr>
          <p:cNvPr id="33" name="">
            <a:extLst xmlns:a="http://schemas.openxmlformats.org/drawingml/2006/main">
              <a:ext uri="{FF2B5EF4-FFF2-40B4-BE49-F238E27FC236}">
                <a16:creationId xmlns:a16="http://schemas.microsoft.com/office/drawing/2014/main" id="{18324606-8C16-49D3-A43C-CDEC31E633AE}"/>
              </a:ext>
            </a:extLst>
          </p:cNvPr>
          <p:cNvSpPr>
            <a:spLocks xmlns:a="http://schemas.openxmlformats.org/drawingml/2006/main" noGrp="1"/>
          </p:cNvSpPr>
          <p:nvPr/>
        </p:nvSpPr>
        <p:spPr>
          <a:xfrm xmlns:a="http://schemas.openxmlformats.org/drawingml/2006/main">
            <a:off x="4476750" y="499110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34" name="">
            <a:extLst xmlns:a="http://schemas.openxmlformats.org/drawingml/2006/main">
              <a:ext uri="{FF2B5EF4-FFF2-40B4-BE49-F238E27FC236}">
                <a16:creationId xmlns:a16="http://schemas.microsoft.com/office/drawing/2014/main" id="{933636A0-F5D6-4BD9-8D26-8BDCF5DD9D0F}"/>
              </a:ext>
            </a:extLst>
          </p:cNvPr>
          <p:cNvSpPr>
            <a:spLocks xmlns:a="http://schemas.openxmlformats.org/drawingml/2006/main" noGrp="1"/>
          </p:cNvSpPr>
          <p:nvPr/>
        </p:nvSpPr>
        <p:spPr>
          <a:xfrm xmlns:a="http://schemas.openxmlformats.org/drawingml/2006/main">
            <a:off x="4648200" y="49530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Substitution</a:t>
            </a:r>
          </a:p>
        </p:txBody>
      </p:sp>
      <p:sp>
        <p:nvSpPr>
          <p:cNvPr id="35" name="">
            <a:extLst xmlns:a="http://schemas.openxmlformats.org/drawingml/2006/main">
              <a:ext uri="{FF2B5EF4-FFF2-40B4-BE49-F238E27FC236}">
                <a16:creationId xmlns:a16="http://schemas.microsoft.com/office/drawing/2014/main" id="{65C16BCA-5904-4ABB-BE28-E9F35EA10397}"/>
              </a:ext>
            </a:extLst>
          </p:cNvPr>
          <p:cNvSpPr>
            <a:spLocks xmlns:a="http://schemas.openxmlformats.org/drawingml/2006/main" noGrp="1"/>
          </p:cNvSpPr>
          <p:nvPr/>
        </p:nvSpPr>
        <p:spPr>
          <a:xfrm xmlns:a="http://schemas.openxmlformats.org/drawingml/2006/main">
            <a:off x="4648200" y="5200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Replacing collateral without weakening required coverage.</a:t>
            </a:r>
          </a:p>
        </p:txBody>
      </p:sp>
      <p:sp>
        <p:nvSpPr>
          <p:cNvPr id="36" name="">
            <a:extLst xmlns:a="http://schemas.openxmlformats.org/drawingml/2006/main">
              <a:ext uri="{FF2B5EF4-FFF2-40B4-BE49-F238E27FC236}">
                <a16:creationId xmlns:a16="http://schemas.microsoft.com/office/drawing/2014/main" id="{A2550D6D-B268-4FD0-AE59-AF326461EE46}"/>
              </a:ext>
            </a:extLst>
          </p:cNvPr>
          <p:cNvSpPr>
            <a:spLocks xmlns:a="http://schemas.openxmlformats.org/drawingml/2006/main" noGrp="1"/>
          </p:cNvSpPr>
          <p:nvPr/>
        </p:nvSpPr>
        <p:spPr>
          <a:xfrm xmlns:a="http://schemas.openxmlformats.org/drawingml/2006/main">
            <a:off x="7886700" y="2133600"/>
            <a:ext cx="47625" cy="495300"/>
          </a:xfrm>
          <a:prstGeom xmlns:a="http://schemas.openxmlformats.org/drawingml/2006/main" prst="rect">
            <a:avLst/>
          </a:prstGeom>
          <a:solidFill xmlns:a="http://schemas.openxmlformats.org/drawingml/2006/main">
            <a:srgbClr val="B85B55"/>
          </a:solidFill>
          <a:ln xmlns:a="http://schemas.openxmlformats.org/drawingml/2006/main" w="0">
            <a:solidFill>
              <a:srgbClr val="B85B55"/>
            </a:solidFill>
            <a:prstDash val="solid"/>
          </a:ln>
        </p:spPr>
      </p:sp>
      <p:sp>
        <p:nvSpPr>
          <p:cNvPr id="37" name="">
            <a:extLst xmlns:a="http://schemas.openxmlformats.org/drawingml/2006/main">
              <a:ext uri="{FF2B5EF4-FFF2-40B4-BE49-F238E27FC236}">
                <a16:creationId xmlns:a16="http://schemas.microsoft.com/office/drawing/2014/main" id="{FC9C9747-7AA5-47AD-A487-4F36736958C1}"/>
              </a:ext>
            </a:extLst>
          </p:cNvPr>
          <p:cNvSpPr>
            <a:spLocks xmlns:a="http://schemas.openxmlformats.org/drawingml/2006/main" noGrp="1"/>
          </p:cNvSpPr>
          <p:nvPr/>
        </p:nvSpPr>
        <p:spPr>
          <a:xfrm xmlns:a="http://schemas.openxmlformats.org/drawingml/2006/main">
            <a:off x="8058150" y="20955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Coupon equivalent</a:t>
            </a:r>
          </a:p>
        </p:txBody>
      </p:sp>
      <p:sp>
        <p:nvSpPr>
          <p:cNvPr id="38" name="">
            <a:extLst xmlns:a="http://schemas.openxmlformats.org/drawingml/2006/main">
              <a:ext uri="{FF2B5EF4-FFF2-40B4-BE49-F238E27FC236}">
                <a16:creationId xmlns:a16="http://schemas.microsoft.com/office/drawing/2014/main" id="{78A0327A-98F7-474F-B275-E0BCE40DDFA0}"/>
              </a:ext>
            </a:extLst>
          </p:cNvPr>
          <p:cNvSpPr>
            <a:spLocks xmlns:a="http://schemas.openxmlformats.org/drawingml/2006/main" noGrp="1"/>
          </p:cNvSpPr>
          <p:nvPr/>
        </p:nvSpPr>
        <p:spPr>
          <a:xfrm xmlns:a="http://schemas.openxmlformats.org/drawingml/2006/main">
            <a:off x="8058150" y="2343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Payment that preserves the borrower’s coupon economics during repo.</a:t>
            </a:r>
          </a:p>
        </p:txBody>
      </p:sp>
      <p:sp>
        <p:nvSpPr>
          <p:cNvPr id="39" name="">
            <a:extLst xmlns:a="http://schemas.openxmlformats.org/drawingml/2006/main">
              <a:ext uri="{FF2B5EF4-FFF2-40B4-BE49-F238E27FC236}">
                <a16:creationId xmlns:a16="http://schemas.microsoft.com/office/drawing/2014/main" id="{97CFA5D7-5ABC-42A8-BD02-C281D5E6090B}"/>
              </a:ext>
            </a:extLst>
          </p:cNvPr>
          <p:cNvSpPr>
            <a:spLocks xmlns:a="http://schemas.openxmlformats.org/drawingml/2006/main" noGrp="1"/>
          </p:cNvSpPr>
          <p:nvPr/>
        </p:nvSpPr>
        <p:spPr>
          <a:xfrm xmlns:a="http://schemas.openxmlformats.org/drawingml/2006/main">
            <a:off x="7886700" y="3086100"/>
            <a:ext cx="47625" cy="495300"/>
          </a:xfrm>
          <a:prstGeom xmlns:a="http://schemas.openxmlformats.org/drawingml/2006/main" prst="rect">
            <a:avLst/>
          </a:prstGeom>
          <a:solidFill xmlns:a="http://schemas.openxmlformats.org/drawingml/2006/main">
            <a:srgbClr val="B85B55"/>
          </a:solidFill>
          <a:ln xmlns:a="http://schemas.openxmlformats.org/drawingml/2006/main" w="0">
            <a:solidFill>
              <a:srgbClr val="B85B55"/>
            </a:solidFill>
            <a:prstDash val="solid"/>
          </a:ln>
        </p:spPr>
      </p:sp>
      <p:sp>
        <p:nvSpPr>
          <p:cNvPr id="40" name="">
            <a:extLst xmlns:a="http://schemas.openxmlformats.org/drawingml/2006/main">
              <a:ext uri="{FF2B5EF4-FFF2-40B4-BE49-F238E27FC236}">
                <a16:creationId xmlns:a16="http://schemas.microsoft.com/office/drawing/2014/main" id="{2B91E219-2226-45CF-BA66-F8727E94A611}"/>
              </a:ext>
            </a:extLst>
          </p:cNvPr>
          <p:cNvSpPr>
            <a:spLocks xmlns:a="http://schemas.openxmlformats.org/drawingml/2006/main" noGrp="1"/>
          </p:cNvSpPr>
          <p:nvPr/>
        </p:nvSpPr>
        <p:spPr>
          <a:xfrm xmlns:a="http://schemas.openxmlformats.org/drawingml/2006/main">
            <a:off x="8058150" y="30480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DvP</a:t>
            </a:r>
          </a:p>
        </p:txBody>
      </p:sp>
      <p:sp>
        <p:nvSpPr>
          <p:cNvPr id="41" name="">
            <a:extLst xmlns:a="http://schemas.openxmlformats.org/drawingml/2006/main">
              <a:ext uri="{FF2B5EF4-FFF2-40B4-BE49-F238E27FC236}">
                <a16:creationId xmlns:a16="http://schemas.microsoft.com/office/drawing/2014/main" id="{2C14E367-AAEC-479A-B4BC-277E684BED5A}"/>
              </a:ext>
            </a:extLst>
          </p:cNvPr>
          <p:cNvSpPr>
            <a:spLocks xmlns:a="http://schemas.openxmlformats.org/drawingml/2006/main" noGrp="1"/>
          </p:cNvSpPr>
          <p:nvPr/>
        </p:nvSpPr>
        <p:spPr>
          <a:xfrm xmlns:a="http://schemas.openxmlformats.org/drawingml/2006/main">
            <a:off x="8058150" y="3295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Bond delivery and cash payment complete atomically.</a:t>
            </a:r>
          </a:p>
        </p:txBody>
      </p:sp>
      <p:sp>
        <p:nvSpPr>
          <p:cNvPr id="42" name="">
            <a:extLst xmlns:a="http://schemas.openxmlformats.org/drawingml/2006/main">
              <a:ext uri="{FF2B5EF4-FFF2-40B4-BE49-F238E27FC236}">
                <a16:creationId xmlns:a16="http://schemas.microsoft.com/office/drawing/2014/main" id="{CE5C581B-F71D-49FD-BA06-2CDC6317726C}"/>
              </a:ext>
            </a:extLst>
          </p:cNvPr>
          <p:cNvSpPr>
            <a:spLocks xmlns:a="http://schemas.openxmlformats.org/drawingml/2006/main" noGrp="1"/>
          </p:cNvSpPr>
          <p:nvPr/>
        </p:nvSpPr>
        <p:spPr>
          <a:xfrm xmlns:a="http://schemas.openxmlformats.org/drawingml/2006/main">
            <a:off x="7886700" y="4038600"/>
            <a:ext cx="47625" cy="495300"/>
          </a:xfrm>
          <a:prstGeom xmlns:a="http://schemas.openxmlformats.org/drawingml/2006/main" prst="rect">
            <a:avLst/>
          </a:prstGeom>
          <a:solidFill xmlns:a="http://schemas.openxmlformats.org/drawingml/2006/main">
            <a:srgbClr val="B85B55"/>
          </a:solidFill>
          <a:ln xmlns:a="http://schemas.openxmlformats.org/drawingml/2006/main" w="0">
            <a:solidFill>
              <a:srgbClr val="B85B55"/>
            </a:solidFill>
            <a:prstDash val="solid"/>
          </a:ln>
        </p:spPr>
      </p:sp>
      <p:sp>
        <p:nvSpPr>
          <p:cNvPr id="43" name="">
            <a:extLst xmlns:a="http://schemas.openxmlformats.org/drawingml/2006/main">
              <a:ext uri="{FF2B5EF4-FFF2-40B4-BE49-F238E27FC236}">
                <a16:creationId xmlns:a16="http://schemas.microsoft.com/office/drawing/2014/main" id="{CFBFD299-E09F-439F-8FBD-A3005C2BE95F}"/>
              </a:ext>
            </a:extLst>
          </p:cNvPr>
          <p:cNvSpPr>
            <a:spLocks xmlns:a="http://schemas.openxmlformats.org/drawingml/2006/main" noGrp="1"/>
          </p:cNvSpPr>
          <p:nvPr/>
        </p:nvSpPr>
        <p:spPr>
          <a:xfrm xmlns:a="http://schemas.openxmlformats.org/drawingml/2006/main">
            <a:off x="8058150" y="40005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Default</a:t>
            </a:r>
          </a:p>
        </p:txBody>
      </p:sp>
      <p:sp>
        <p:nvSpPr>
          <p:cNvPr id="44" name="">
            <a:extLst xmlns:a="http://schemas.openxmlformats.org/drawingml/2006/main">
              <a:ext uri="{FF2B5EF4-FFF2-40B4-BE49-F238E27FC236}">
                <a16:creationId xmlns:a16="http://schemas.microsoft.com/office/drawing/2014/main" id="{8AAFA4CD-9E54-48D7-AD4A-F923E8F9991A}"/>
              </a:ext>
            </a:extLst>
          </p:cNvPr>
          <p:cNvSpPr>
            <a:spLocks xmlns:a="http://schemas.openxmlformats.org/drawingml/2006/main" noGrp="1"/>
          </p:cNvSpPr>
          <p:nvPr/>
        </p:nvSpPr>
        <p:spPr>
          <a:xfrm xmlns:a="http://schemas.openxmlformats.org/drawingml/2006/main">
            <a:off x="8058150" y="4248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Failure to cure margin or repay at maturity.</a:t>
            </a:r>
          </a:p>
        </p:txBody>
      </p:sp>
      <p:sp>
        <p:nvSpPr>
          <p:cNvPr id="45" name="">
            <a:extLst xmlns:a="http://schemas.openxmlformats.org/drawingml/2006/main">
              <a:ext uri="{FF2B5EF4-FFF2-40B4-BE49-F238E27FC236}">
                <a16:creationId xmlns:a16="http://schemas.microsoft.com/office/drawing/2014/main" id="{9F7BF3F8-B2E8-42F0-988D-F60E35311CB0}"/>
              </a:ext>
            </a:extLst>
          </p:cNvPr>
          <p:cNvSpPr>
            <a:spLocks xmlns:a="http://schemas.openxmlformats.org/drawingml/2006/main" noGrp="1"/>
          </p:cNvSpPr>
          <p:nvPr/>
        </p:nvSpPr>
        <p:spPr>
          <a:xfrm xmlns:a="http://schemas.openxmlformats.org/drawingml/2006/main">
            <a:off x="7886700" y="4991100"/>
            <a:ext cx="47625" cy="495300"/>
          </a:xfrm>
          <a:prstGeom xmlns:a="http://schemas.openxmlformats.org/drawingml/2006/main" prst="rect">
            <a:avLst/>
          </a:prstGeom>
          <a:solidFill xmlns:a="http://schemas.openxmlformats.org/drawingml/2006/main">
            <a:srgbClr val="B85B55"/>
          </a:solidFill>
          <a:ln xmlns:a="http://schemas.openxmlformats.org/drawingml/2006/main" w="0">
            <a:solidFill>
              <a:srgbClr val="B85B55"/>
            </a:solidFill>
            <a:prstDash val="solid"/>
          </a:ln>
        </p:spPr>
      </p:sp>
      <p:sp>
        <p:nvSpPr>
          <p:cNvPr id="46" name="">
            <a:extLst xmlns:a="http://schemas.openxmlformats.org/drawingml/2006/main">
              <a:ext uri="{FF2B5EF4-FFF2-40B4-BE49-F238E27FC236}">
                <a16:creationId xmlns:a16="http://schemas.microsoft.com/office/drawing/2014/main" id="{1237AD5F-7161-4312-92C7-CA7C2A3CB2FA}"/>
              </a:ext>
            </a:extLst>
          </p:cNvPr>
          <p:cNvSpPr>
            <a:spLocks xmlns:a="http://schemas.openxmlformats.org/drawingml/2006/main" noGrp="1"/>
          </p:cNvSpPr>
          <p:nvPr/>
        </p:nvSpPr>
        <p:spPr>
          <a:xfrm xmlns:a="http://schemas.openxmlformats.org/drawingml/2006/main">
            <a:off x="8058150" y="49530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Liquidation waterfall</a:t>
            </a:r>
          </a:p>
        </p:txBody>
      </p:sp>
      <p:sp>
        <p:nvSpPr>
          <p:cNvPr id="47" name="">
            <a:extLst xmlns:a="http://schemas.openxmlformats.org/drawingml/2006/main">
              <a:ext uri="{FF2B5EF4-FFF2-40B4-BE49-F238E27FC236}">
                <a16:creationId xmlns:a16="http://schemas.microsoft.com/office/drawing/2014/main" id="{6FC068CE-82F4-41B1-92E9-82BCECD15D79}"/>
              </a:ext>
            </a:extLst>
          </p:cNvPr>
          <p:cNvSpPr>
            <a:spLocks xmlns:a="http://schemas.openxmlformats.org/drawingml/2006/main" noGrp="1"/>
          </p:cNvSpPr>
          <p:nvPr/>
        </p:nvSpPr>
        <p:spPr>
          <a:xfrm xmlns:a="http://schemas.openxmlformats.org/drawingml/2006/main">
            <a:off x="8058150" y="5200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Sale proceeds pay the lender claim first, then borrower surplus.</a:t>
            </a:r>
          </a:p>
        </p:txBody>
      </p:sp>
    </p:spTree>
    <p:extLst>
      <p:ext uri="{BB962C8B-B14F-4D97-AF65-F5344CB8AC3E}">
        <p14:creationId xmlns:p14="http://schemas.microsoft.com/office/powerpoint/2010/main" val="1316823746"/>
      </p:ext>
    </p:extLst>
  </p:cSld>
</p:sld>
</file>

<file path=ppt/slides/slide5.xml><?xml version="1.0" encoding="utf-8"?>
<p:sld xmlns:p="http://schemas.openxmlformats.org/presentationml/2006/main">
  <p:cSld>
    <p:bg>
      <p:bgPr>
        <a:solidFill xmlns:a="http://schemas.openxmlformats.org/drawingml/2006/main">
          <a:srgbClr val="F4F2E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6A32377-8CA6-4BF9-9BA5-4DD5555AE8D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FC3AC"/>
          </a:solidFill>
          <a:ln xmlns:a="http://schemas.openxmlformats.org/drawingml/2006/main" w="0">
            <a:solidFill>
              <a:srgbClr val="AFC3AC"/>
            </a:solidFill>
            <a:prstDash val="solid"/>
          </a:ln>
        </p:spPr>
      </p:sp>
      <p:sp>
        <p:nvSpPr>
          <p:cNvPr id="2" name="">
            <a:extLst xmlns:a="http://schemas.openxmlformats.org/drawingml/2006/main">
              <a:ext uri="{FF2B5EF4-FFF2-40B4-BE49-F238E27FC236}">
                <a16:creationId xmlns:a16="http://schemas.microsoft.com/office/drawing/2014/main" id="{5C3AE651-4EF1-4326-84E2-A15519F2F555}"/>
              </a:ext>
            </a:extLst>
          </p:cNvPr>
          <p:cNvSpPr>
            <a:spLocks xmlns:a="http://schemas.openxmlformats.org/drawingml/2006/main" noGrp="1"/>
          </p:cNvSpPr>
          <p:nvPr/>
        </p:nvSpPr>
        <p:spPr>
          <a:xfrm xmlns:a="http://schemas.openxmlformats.org/drawingml/2006/main">
            <a:off x="438150" y="323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9B57"/>
                </a:solidFill>
                <a:latin typeface="DIN Condensed"/>
                <a:ea typeface="DIN Condensed"/>
                <a:cs typeface="DIN Condensed"/>
              </a:defRPr>
            </a:pPr>
            <a:r>
              <a:rPr sz="1350" b="1">
                <a:solidFill>
                  <a:srgbClr val="E99B57"/>
                </a:solidFill>
                <a:latin typeface="DIN Condensed"/>
                <a:ea typeface="DIN Condensed"/>
                <a:cs typeface="DIN Condensed"/>
              </a:rPr>
              <a:t>05</a:t>
            </a:r>
          </a:p>
        </p:txBody>
      </p:sp>
      <p:sp>
        <p:nvSpPr>
          <p:cNvPr id="3" name="">
            <a:extLst xmlns:a="http://schemas.openxmlformats.org/drawingml/2006/main">
              <a:ext uri="{FF2B5EF4-FFF2-40B4-BE49-F238E27FC236}">
                <a16:creationId xmlns:a16="http://schemas.microsoft.com/office/drawing/2014/main" id="{15E54635-FDE2-4FA6-8E92-6266AB4AC95C}"/>
              </a:ext>
            </a:extLst>
          </p:cNvPr>
          <p:cNvSpPr>
            <a:spLocks xmlns:a="http://schemas.openxmlformats.org/drawingml/2006/main" noGrp="1"/>
          </p:cNvSpPr>
          <p:nvPr/>
        </p:nvSpPr>
        <p:spPr>
          <a:xfrm xmlns:a="http://schemas.openxmlformats.org/drawingml/2006/main">
            <a:off x="1066800" y="24765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71817"/>
                </a:solidFill>
                <a:latin typeface="DIN Condensed"/>
                <a:ea typeface="DIN Condensed"/>
                <a:cs typeface="DIN Condensed"/>
              </a:defRPr>
            </a:pPr>
            <a:r>
              <a:rPr sz="3300" b="1">
                <a:solidFill>
                  <a:srgbClr val="171817"/>
                </a:solidFill>
                <a:latin typeface="DIN Condensed"/>
                <a:ea typeface="DIN Condensed"/>
                <a:cs typeface="DIN Condensed"/>
              </a:rPr>
              <a:t>The Swan lifecycle</a:t>
            </a:r>
          </a:p>
        </p:txBody>
      </p:sp>
      <p:sp>
        <p:nvSpPr>
          <p:cNvPr id="4" name="">
            <a:extLst xmlns:a="http://schemas.openxmlformats.org/drawingml/2006/main">
              <a:ext uri="{FF2B5EF4-FFF2-40B4-BE49-F238E27FC236}">
                <a16:creationId xmlns:a16="http://schemas.microsoft.com/office/drawing/2014/main" id="{5B4A45DE-4D73-407C-B27F-9C080A166893}"/>
              </a:ext>
            </a:extLst>
          </p:cNvPr>
          <p:cNvSpPr>
            <a:spLocks xmlns:a="http://schemas.openxmlformats.org/drawingml/2006/main" noGrp="1"/>
          </p:cNvSpPr>
          <p:nvPr/>
        </p:nvSpPr>
        <p:spPr>
          <a:xfrm xmlns:a="http://schemas.openxmlformats.org/drawingml/2006/main">
            <a:off x="1085850" y="8191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8655D"/>
                </a:solidFill>
                <a:latin typeface="Helvetica Neue"/>
                <a:ea typeface="Helvetica Neue"/>
                <a:cs typeface="Helvetica Neue"/>
              </a:defRPr>
            </a:pPr>
            <a:r>
              <a:rPr sz="1425" b="0">
                <a:solidFill>
                  <a:srgbClr val="58655D"/>
                </a:solidFill>
                <a:latin typeface="Helvetica Neue"/>
                <a:ea typeface="Helvetica Neue"/>
                <a:cs typeface="Helvetica Neue"/>
              </a:rPr>
              <a:t>One repo can close normally or route into a compliant recovery auction.</a:t>
            </a:r>
          </a:p>
        </p:txBody>
      </p:sp>
      <p:sp>
        <p:nvSpPr>
          <p:cNvPr id="5" name="">
            <a:extLst xmlns:a="http://schemas.openxmlformats.org/drawingml/2006/main">
              <a:ext uri="{FF2B5EF4-FFF2-40B4-BE49-F238E27FC236}">
                <a16:creationId xmlns:a16="http://schemas.microsoft.com/office/drawing/2014/main" id="{B0E010FE-D623-49ED-8ACC-D01B94B0596B}"/>
              </a:ext>
            </a:extLst>
          </p:cNvPr>
          <p:cNvSpPr>
            <a:spLocks xmlns:a="http://schemas.openxmlformats.org/drawingml/2006/main" noGrp="1"/>
          </p:cNvSpPr>
          <p:nvPr/>
        </p:nvSpPr>
        <p:spPr>
          <a:xfrm xmlns:a="http://schemas.openxmlformats.org/drawingml/2006/main">
            <a:off x="11049000" y="3429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DIN Condensed"/>
                <a:ea typeface="DIN Condensed"/>
                <a:cs typeface="DIN Condensed"/>
              </a:defRPr>
            </a:pPr>
            <a:r>
              <a:rPr sz="1350" b="1">
                <a:solidFill>
                  <a:srgbClr val="171817"/>
                </a:solidFill>
                <a:latin typeface="DIN Condensed"/>
                <a:ea typeface="DIN Condensed"/>
                <a:cs typeface="DIN Condensed"/>
              </a:rPr>
              <a:t>SWAN</a:t>
            </a:r>
          </a:p>
        </p:txBody>
      </p:sp>
      <p:sp>
        <p:nvSpPr>
          <p:cNvPr id="6" name="">
            <a:extLst xmlns:a="http://schemas.openxmlformats.org/drawingml/2006/main">
              <a:ext uri="{FF2B5EF4-FFF2-40B4-BE49-F238E27FC236}">
                <a16:creationId xmlns:a16="http://schemas.microsoft.com/office/drawing/2014/main" id="{94A5FEEE-030B-4075-BE90-9E017FBB4260}"/>
              </a:ext>
            </a:extLst>
          </p:cNvPr>
          <p:cNvSpPr>
            <a:spLocks xmlns:a="http://schemas.openxmlformats.org/drawingml/2006/main" noGrp="1"/>
          </p:cNvSpPr>
          <p:nvPr/>
        </p:nvSpPr>
        <p:spPr>
          <a:xfrm xmlns:a="http://schemas.openxmlformats.org/drawingml/2006/main">
            <a:off x="1066800" y="1162050"/>
            <a:ext cx="10668000" cy="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7" name="">
            <a:extLst xmlns:a="http://schemas.openxmlformats.org/drawingml/2006/main">
              <a:ext uri="{FF2B5EF4-FFF2-40B4-BE49-F238E27FC236}">
                <a16:creationId xmlns:a16="http://schemas.microsoft.com/office/drawing/2014/main" id="{A724D7C6-3FCC-47D9-B94F-5FD63D1325B5}"/>
              </a:ext>
            </a:extLst>
          </p:cNvPr>
          <p:cNvSpPr>
            <a:spLocks xmlns:a="http://schemas.openxmlformats.org/drawingml/2006/main" noGrp="1"/>
          </p:cNvSpPr>
          <p:nvPr/>
        </p:nvSpPr>
        <p:spPr>
          <a:xfrm xmlns:a="http://schemas.openxmlformats.org/drawingml/2006/main">
            <a:off x="762000" y="1809750"/>
            <a:ext cx="1809750" cy="1143000"/>
          </a:xfrm>
          <a:prstGeom xmlns:a="http://schemas.openxmlformats.org/drawingml/2006/main" prst="roundRect">
            <a:avLst>
              <a:gd name="adj" fmla="val 11667"/>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88703"/>
          </a:bodyPr>
          <a:lstStyle xmlns:a="http://schemas.openxmlformats.org/drawingml/2006/main"/>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1</a:t>
            </a:r>
          </a:p>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COLLATERAL DRAFT</a:t>
            </a:r>
          </a:p>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Lock an efficient basket</a:t>
            </a:r>
          </a:p>
        </p:txBody>
      </p:sp>
      <p:sp>
        <p:nvSpPr>
          <p:cNvPr id="8" name="">
            <a:extLst xmlns:a="http://schemas.openxmlformats.org/drawingml/2006/main">
              <a:ext uri="{FF2B5EF4-FFF2-40B4-BE49-F238E27FC236}">
                <a16:creationId xmlns:a16="http://schemas.microsoft.com/office/drawing/2014/main" id="{DC211F15-E934-4729-B8CC-6EB529D1FCB0}"/>
              </a:ext>
            </a:extLst>
          </p:cNvPr>
          <p:cNvSpPr>
            <a:spLocks xmlns:a="http://schemas.openxmlformats.org/drawingml/2006/main" noGrp="1"/>
          </p:cNvSpPr>
          <p:nvPr/>
        </p:nvSpPr>
        <p:spPr>
          <a:xfrm xmlns:a="http://schemas.openxmlformats.org/drawingml/2006/main">
            <a:off x="3048000" y="1809750"/>
            <a:ext cx="1809750" cy="1143000"/>
          </a:xfrm>
          <a:prstGeom xmlns:a="http://schemas.openxmlformats.org/drawingml/2006/main" prst="roundRect">
            <a:avLst>
              <a:gd name="adj" fmla="val 11667"/>
            </a:avLst>
          </a:prstGeom>
          <a:solidFill xmlns:a="http://schemas.openxmlformats.org/drawingml/2006/main">
            <a:srgbClr val="A9C1CE"/>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2</a:t>
            </a:r>
          </a:p>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FUNDING RACE</a:t>
            </a:r>
          </a:p>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Lowest valid rate wins</a:t>
            </a:r>
          </a:p>
        </p:txBody>
      </p:sp>
      <p:sp>
        <p:nvSpPr>
          <p:cNvPr id="9" name="">
            <a:extLst xmlns:a="http://schemas.openxmlformats.org/drawingml/2006/main">
              <a:ext uri="{FF2B5EF4-FFF2-40B4-BE49-F238E27FC236}">
                <a16:creationId xmlns:a16="http://schemas.microsoft.com/office/drawing/2014/main" id="{12C9397A-F2A8-45F0-B160-78CE6451255D}"/>
              </a:ext>
            </a:extLst>
          </p:cNvPr>
          <p:cNvSpPr>
            <a:spLocks xmlns:a="http://schemas.openxmlformats.org/drawingml/2006/main" noGrp="1"/>
          </p:cNvSpPr>
          <p:nvPr/>
        </p:nvSpPr>
        <p:spPr>
          <a:xfrm xmlns:a="http://schemas.openxmlformats.org/drawingml/2006/main">
            <a:off x="5334000" y="1809750"/>
            <a:ext cx="1809750" cy="1143000"/>
          </a:xfrm>
          <a:prstGeom xmlns:a="http://schemas.openxmlformats.org/drawingml/2006/main" prst="roundRect">
            <a:avLst>
              <a:gd name="adj" fmla="val 11667"/>
            </a:avLst>
          </a:prstGeom>
          <a:solidFill xmlns:a="http://schemas.openxmlformats.org/drawingml/2006/main">
            <a:srgbClr val="E7EBDD"/>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3</a:t>
            </a:r>
          </a:p>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ACTIVE REPO</a:t>
            </a:r>
          </a:p>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USDC out, bonds escrowed</a:t>
            </a:r>
          </a:p>
        </p:txBody>
      </p:sp>
      <p:sp>
        <p:nvSpPr>
          <p:cNvPr id="10" name="">
            <a:extLst xmlns:a="http://schemas.openxmlformats.org/drawingml/2006/main">
              <a:ext uri="{FF2B5EF4-FFF2-40B4-BE49-F238E27FC236}">
                <a16:creationId xmlns:a16="http://schemas.microsoft.com/office/drawing/2014/main" id="{013B84D2-0F12-43B8-98DB-8B1F577EBF7E}"/>
              </a:ext>
            </a:extLst>
          </p:cNvPr>
          <p:cNvSpPr>
            <a:spLocks xmlns:a="http://schemas.openxmlformats.org/drawingml/2006/main" noGrp="1"/>
          </p:cNvSpPr>
          <p:nvPr/>
        </p:nvSpPr>
        <p:spPr>
          <a:xfrm xmlns:a="http://schemas.openxmlformats.org/drawingml/2006/main">
            <a:off x="7620000" y="1809750"/>
            <a:ext cx="1809750" cy="1143000"/>
          </a:xfrm>
          <a:prstGeom xmlns:a="http://schemas.openxmlformats.org/drawingml/2006/main" prst="roundRect">
            <a:avLst>
              <a:gd name="adj" fmla="val 11667"/>
            </a:avLst>
          </a:prstGeom>
          <a:solidFill xmlns:a="http://schemas.openxmlformats.org/drawingml/2006/main">
            <a:srgbClr val="F4D6B9"/>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4</a:t>
            </a:r>
          </a:p>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MARGIN EVENT</a:t>
            </a:r>
          </a:p>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Oracle tests coverage</a:t>
            </a:r>
          </a:p>
        </p:txBody>
      </p:sp>
      <p:cxnSp>
        <p:nvCxnSpPr>
          <p:cNvPr id="32" name=""/>
          <p:cNvCxnSpPr>
            <a:stCxn xmlns:a="http://schemas.openxmlformats.org/drawingml/2006/main" id="7" idx="3"/>
            <a:endCxn xmlns:a="http://schemas.openxmlformats.org/drawingml/2006/main" id="8" idx="1"/>
          </p:cNvCxnSpPr>
          <p:nvPr/>
        </p:nvCxnSpPr>
        <p:spPr>
          <a:xfrm xmlns:a="http://schemas.openxmlformats.org/drawingml/2006/main">
            <a:off x="2571750" y="2381250"/>
            <a:ext cx="476250" cy="0"/>
          </a:xfrm>
          <a:prstGeom xmlns:a="http://schemas.openxmlformats.org/drawingml/2006/main" prst="straightConnector1">
            <a:avLst/>
          </a:prstGeom>
          <a:ln xmlns:a="http://schemas.openxmlformats.org/drawingml/2006/main" w="19050">
            <a:solidFill>
              <a:srgbClr val="171817"/>
            </a:solidFill>
            <a:prstDash val="solid"/>
            <a:tailEnd type="arrow" w="med" len="med"/>
          </a:ln>
        </p:spPr>
      </p:cxnSp>
      <p:cxnSp>
        <p:nvCxnSpPr>
          <p:cNvPr id="33" name=""/>
          <p:cNvCxnSpPr>
            <a:stCxn xmlns:a="http://schemas.openxmlformats.org/drawingml/2006/main" id="8" idx="3"/>
            <a:endCxn xmlns:a="http://schemas.openxmlformats.org/drawingml/2006/main" id="9" idx="1"/>
          </p:cNvCxnSpPr>
          <p:nvPr/>
        </p:nvCxnSpPr>
        <p:spPr>
          <a:xfrm xmlns:a="http://schemas.openxmlformats.org/drawingml/2006/main">
            <a:off x="4857750" y="2381250"/>
            <a:ext cx="476250" cy="0"/>
          </a:xfrm>
          <a:prstGeom xmlns:a="http://schemas.openxmlformats.org/drawingml/2006/main" prst="straightConnector1">
            <a:avLst/>
          </a:prstGeom>
          <a:ln xmlns:a="http://schemas.openxmlformats.org/drawingml/2006/main" w="19050">
            <a:solidFill>
              <a:srgbClr val="171817"/>
            </a:solidFill>
            <a:prstDash val="solid"/>
            <a:tailEnd type="arrow" w="med" len="med"/>
          </a:ln>
        </p:spPr>
      </p:cxnSp>
      <p:cxnSp>
        <p:nvCxnSpPr>
          <p:cNvPr id="34" name=""/>
          <p:cNvCxnSpPr>
            <a:stCxn xmlns:a="http://schemas.openxmlformats.org/drawingml/2006/main" id="9" idx="3"/>
            <a:endCxn xmlns:a="http://schemas.openxmlformats.org/drawingml/2006/main" id="10" idx="1"/>
          </p:cNvCxnSpPr>
          <p:nvPr/>
        </p:nvCxnSpPr>
        <p:spPr>
          <a:xfrm xmlns:a="http://schemas.openxmlformats.org/drawingml/2006/main">
            <a:off x="7143750" y="2381250"/>
            <a:ext cx="476250" cy="0"/>
          </a:xfrm>
          <a:prstGeom xmlns:a="http://schemas.openxmlformats.org/drawingml/2006/main" prst="straightConnector1">
            <a:avLst/>
          </a:prstGeom>
          <a:ln xmlns:a="http://schemas.openxmlformats.org/drawingml/2006/main" w="19050">
            <a:solidFill>
              <a:srgbClr val="171817"/>
            </a:solidFill>
            <a:prstDash val="solid"/>
            <a:tailEnd type="arrow" w="med" len="med"/>
          </a:ln>
        </p:spPr>
      </p:cxnSp>
      <p:sp>
        <p:nvSpPr>
          <p:cNvPr id="14" name="">
            <a:extLst xmlns:a="http://schemas.openxmlformats.org/drawingml/2006/main">
              <a:ext uri="{FF2B5EF4-FFF2-40B4-BE49-F238E27FC236}">
                <a16:creationId xmlns:a16="http://schemas.microsoft.com/office/drawing/2014/main" id="{71451351-A81E-49A5-A852-3A4CAFD9CE8F}"/>
              </a:ext>
            </a:extLst>
          </p:cNvPr>
          <p:cNvSpPr>
            <a:spLocks xmlns:a="http://schemas.openxmlformats.org/drawingml/2006/main" noGrp="1"/>
          </p:cNvSpPr>
          <p:nvPr/>
        </p:nvSpPr>
        <p:spPr>
          <a:xfrm xmlns:a="http://schemas.openxmlformats.org/drawingml/2006/main">
            <a:off x="4095750" y="3905250"/>
            <a:ext cx="3048000" cy="895350"/>
          </a:xfrm>
          <a:prstGeom xmlns:a="http://schemas.openxmlformats.org/drawingml/2006/main" prst="roundRect">
            <a:avLst>
              <a:gd name="adj" fmla="val 14894"/>
            </a:avLst>
          </a:prstGeom>
          <a:solidFill xmlns:a="http://schemas.openxmlformats.org/drawingml/2006/main">
            <a:srgbClr val="CFE0CC"/>
          </a:solidFill>
          <a:ln xmlns:a="http://schemas.openxmlformats.org/drawingml/2006/main" w="19050">
            <a:solidFill>
              <a:srgbClr val="3F7656"/>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CURE</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Top up, substitute, or repay</a:t>
            </a:r>
          </a:p>
        </p:txBody>
      </p:sp>
      <p:sp>
        <p:nvSpPr>
          <p:cNvPr id="15" name="">
            <a:extLst xmlns:a="http://schemas.openxmlformats.org/drawingml/2006/main">
              <a:ext uri="{FF2B5EF4-FFF2-40B4-BE49-F238E27FC236}">
                <a16:creationId xmlns:a16="http://schemas.microsoft.com/office/drawing/2014/main" id="{0301DBAD-6C0B-4B3B-A695-A50244DFE492}"/>
              </a:ext>
            </a:extLst>
          </p:cNvPr>
          <p:cNvSpPr>
            <a:spLocks xmlns:a="http://schemas.openxmlformats.org/drawingml/2006/main" noGrp="1"/>
          </p:cNvSpPr>
          <p:nvPr/>
        </p:nvSpPr>
        <p:spPr>
          <a:xfrm xmlns:a="http://schemas.openxmlformats.org/drawingml/2006/main">
            <a:off x="762000" y="5429250"/>
            <a:ext cx="4000500" cy="742950"/>
          </a:xfrm>
          <a:prstGeom xmlns:a="http://schemas.openxmlformats.org/drawingml/2006/main" prst="roundRect">
            <a:avLst>
              <a:gd name="adj" fmla="val 17949"/>
            </a:avLst>
          </a:prstGeom>
          <a:solidFill xmlns:a="http://schemas.openxmlformats.org/drawingml/2006/main">
            <a:srgbClr val="A9C1CE"/>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82457"/>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CLOSE</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Coupon treated, cash repaid, bonds returned</a:t>
            </a:r>
          </a:p>
        </p:txBody>
      </p:sp>
      <p:sp>
        <p:nvSpPr>
          <p:cNvPr id="16" name="">
            <a:extLst xmlns:a="http://schemas.openxmlformats.org/drawingml/2006/main">
              <a:ext uri="{FF2B5EF4-FFF2-40B4-BE49-F238E27FC236}">
                <a16:creationId xmlns:a16="http://schemas.microsoft.com/office/drawing/2014/main" id="{F6E311DA-010B-41B4-83DC-E41600B33653}"/>
              </a:ext>
            </a:extLst>
          </p:cNvPr>
          <p:cNvSpPr>
            <a:spLocks xmlns:a="http://schemas.openxmlformats.org/drawingml/2006/main" noGrp="1"/>
          </p:cNvSpPr>
          <p:nvPr/>
        </p:nvSpPr>
        <p:spPr>
          <a:xfrm xmlns:a="http://schemas.openxmlformats.org/drawingml/2006/main">
            <a:off x="8191500" y="3905250"/>
            <a:ext cx="2857500" cy="895350"/>
          </a:xfrm>
          <a:prstGeom xmlns:a="http://schemas.openxmlformats.org/drawingml/2006/main" prst="roundRect">
            <a:avLst>
              <a:gd name="adj" fmla="val 14894"/>
            </a:avLst>
          </a:prstGeom>
          <a:solidFill xmlns:a="http://schemas.openxmlformats.org/drawingml/2006/main">
            <a:srgbClr val="EAC0BC"/>
          </a:solidFill>
          <a:ln xmlns:a="http://schemas.openxmlformats.org/drawingml/2006/main" w="19050">
            <a:solidFill>
              <a:srgbClr val="B85B55"/>
            </a:solidFill>
            <a:prstDash val="solid"/>
          </a:ln>
        </p:spPr>
        <p:txBody>
          <a:bodyPr xmlns:a="http://schemas.openxmlformats.org/drawingml/2006/main" wrap="square" lIns="114300" tIns="76200" rIns="114300" bIns="76200" anchor="ctr">
            <a:normAutofit fontScale="88130"/>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DEFAULT</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Margin timer or maturity expires</a:t>
            </a:r>
          </a:p>
        </p:txBody>
      </p:sp>
      <p:sp>
        <p:nvSpPr>
          <p:cNvPr id="17" name="">
            <a:extLst xmlns:a="http://schemas.openxmlformats.org/drawingml/2006/main">
              <a:ext uri="{FF2B5EF4-FFF2-40B4-BE49-F238E27FC236}">
                <a16:creationId xmlns:a16="http://schemas.microsoft.com/office/drawing/2014/main" id="{0BD8216C-F885-4746-8CA0-8FFEF61871B9}"/>
              </a:ext>
            </a:extLst>
          </p:cNvPr>
          <p:cNvSpPr>
            <a:spLocks xmlns:a="http://schemas.openxmlformats.org/drawingml/2006/main" noGrp="1"/>
          </p:cNvSpPr>
          <p:nvPr/>
        </p:nvSpPr>
        <p:spPr>
          <a:xfrm xmlns:a="http://schemas.openxmlformats.org/drawingml/2006/main">
            <a:off x="7239000" y="5429250"/>
            <a:ext cx="4000500" cy="742950"/>
          </a:xfrm>
          <a:prstGeom xmlns:a="http://schemas.openxmlformats.org/drawingml/2006/main" prst="roundRect">
            <a:avLst>
              <a:gd name="adj" fmla="val 17949"/>
            </a:avLst>
          </a:prstGeom>
          <a:solidFill xmlns:a="http://schemas.openxmlformats.org/drawingml/2006/main">
            <a:srgbClr val="F4D6B9"/>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KYC AUCTION</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DvP sale and lender-first waterfall</a:t>
            </a:r>
          </a:p>
        </p:txBody>
      </p:sp>
      <p:cxnSp>
        <p:nvCxnSpPr>
          <p:cNvPr id="39" name=""/>
          <p:cNvCxnSpPr>
            <a:stCxn xmlns:a="http://schemas.openxmlformats.org/drawingml/2006/main" id="10" idx="2"/>
            <a:endCxn xmlns:a="http://schemas.openxmlformats.org/drawingml/2006/main" id="14" idx="0"/>
          </p:cNvCxnSpPr>
          <p:nvPr/>
        </p:nvCxnSpPr>
        <p:spPr>
          <a:xfrm xmlns:a="http://schemas.openxmlformats.org/drawingml/2006/main" flipH="1">
            <a:off x="5619750" y="2952750"/>
            <a:ext cx="2905125" cy="952500"/>
          </a:xfrm>
          <a:prstGeom xmlns:a="http://schemas.openxmlformats.org/drawingml/2006/main" prst="bentConnector4">
            <a:avLst>
              <a:gd name="adj1" fmla="val 0"/>
              <a:gd name="adj2" fmla="val 50000"/>
            </a:avLst>
          </a:prstGeom>
          <a:ln xmlns:a="http://schemas.openxmlformats.org/drawingml/2006/main" w="19050">
            <a:solidFill>
              <a:srgbClr val="3F7656"/>
            </a:solidFill>
            <a:prstDash val="solid"/>
            <a:tailEnd type="arrow" w="med" len="med"/>
          </a:ln>
        </p:spPr>
      </p:cxnSp>
      <p:cxnSp>
        <p:nvCxnSpPr>
          <p:cNvPr id="40" name=""/>
          <p:cNvCxnSpPr>
            <a:stCxn xmlns:a="http://schemas.openxmlformats.org/drawingml/2006/main" id="14" idx="1"/>
            <a:endCxn xmlns:a="http://schemas.openxmlformats.org/drawingml/2006/main" id="15" idx="0"/>
          </p:cNvCxnSpPr>
          <p:nvPr/>
        </p:nvCxnSpPr>
        <p:spPr>
          <a:xfrm xmlns:a="http://schemas.openxmlformats.org/drawingml/2006/main" flipH="1">
            <a:off x="2762250" y="4352925"/>
            <a:ext cx="1333500" cy="1076325"/>
          </a:xfrm>
          <a:prstGeom xmlns:a="http://schemas.openxmlformats.org/drawingml/2006/main" prst="bentConnector2">
            <a:avLst/>
          </a:prstGeom>
          <a:ln xmlns:a="http://schemas.openxmlformats.org/drawingml/2006/main" w="19050">
            <a:solidFill>
              <a:srgbClr val="3F7656"/>
            </a:solidFill>
            <a:prstDash val="solid"/>
            <a:tailEnd type="arrow" w="med" len="med"/>
          </a:ln>
        </p:spPr>
      </p:cxnSp>
      <p:cxnSp>
        <p:nvCxnSpPr>
          <p:cNvPr id="41" name=""/>
          <p:cNvCxnSpPr>
            <a:stCxn xmlns:a="http://schemas.openxmlformats.org/drawingml/2006/main" id="10" idx="2"/>
            <a:endCxn xmlns:a="http://schemas.openxmlformats.org/drawingml/2006/main" id="16" idx="0"/>
          </p:cNvCxnSpPr>
          <p:nvPr/>
        </p:nvCxnSpPr>
        <p:spPr>
          <a:xfrm xmlns:a="http://schemas.openxmlformats.org/drawingml/2006/main">
            <a:off x="8524875" y="2952750"/>
            <a:ext cx="1095375" cy="952500"/>
          </a:xfrm>
          <a:prstGeom xmlns:a="http://schemas.openxmlformats.org/drawingml/2006/main" prst="bentConnector4">
            <a:avLst>
              <a:gd name="adj1" fmla="val 0"/>
              <a:gd name="adj2" fmla="val 50000"/>
            </a:avLst>
          </a:prstGeom>
          <a:ln xmlns:a="http://schemas.openxmlformats.org/drawingml/2006/main" w="19050">
            <a:solidFill>
              <a:srgbClr val="B85B55"/>
            </a:solidFill>
            <a:prstDash val="solid"/>
            <a:tailEnd type="arrow" w="med" len="med"/>
          </a:ln>
        </p:spPr>
      </p:cxnSp>
      <p:cxnSp>
        <p:nvCxnSpPr>
          <p:cNvPr id="42" name=""/>
          <p:cNvCxnSpPr>
            <a:stCxn xmlns:a="http://schemas.openxmlformats.org/drawingml/2006/main" id="16" idx="2"/>
            <a:endCxn xmlns:a="http://schemas.openxmlformats.org/drawingml/2006/main" id="17" idx="0"/>
          </p:cNvCxnSpPr>
          <p:nvPr/>
        </p:nvCxnSpPr>
        <p:spPr>
          <a:xfrm xmlns:a="http://schemas.openxmlformats.org/drawingml/2006/main" flipH="1">
            <a:off x="9239250" y="4800600"/>
            <a:ext cx="381000" cy="628650"/>
          </a:xfrm>
          <a:prstGeom xmlns:a="http://schemas.openxmlformats.org/drawingml/2006/main" prst="straightConnector1">
            <a:avLst/>
          </a:prstGeom>
          <a:ln xmlns:a="http://schemas.openxmlformats.org/drawingml/2006/main" w="19050">
            <a:solidFill>
              <a:srgbClr val="B85B55"/>
            </a:solidFill>
            <a:prstDash val="solid"/>
            <a:tailEnd type="arrow" w="med" len="med"/>
          </a:ln>
        </p:spPr>
      </p:cxnSp>
    </p:spTree>
    <p:extLst>
      <p:ext uri="{BB962C8B-B14F-4D97-AF65-F5344CB8AC3E}">
        <p14:creationId xmlns:p14="http://schemas.microsoft.com/office/powerpoint/2010/main" val="1790132663"/>
      </p:ext>
    </p:extLst>
  </p:cSld>
</p:sld>
</file>

<file path=ppt/slides/slide6.xml><?xml version="1.0" encoding="utf-8"?>
<p:sld xmlns:p="http://schemas.openxmlformats.org/presentationml/2006/main">
  <p:cSld>
    <p:bg>
      <p:bgPr>
        <a:solidFill xmlns:a="http://schemas.openxmlformats.org/drawingml/2006/main">
          <a:srgbClr val="F4F2E6"/>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AFDB951-AD80-483D-BE93-030E949D063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2" name="">
            <a:extLst xmlns:a="http://schemas.openxmlformats.org/drawingml/2006/main">
              <a:ext uri="{FF2B5EF4-FFF2-40B4-BE49-F238E27FC236}">
                <a16:creationId xmlns:a16="http://schemas.microsoft.com/office/drawing/2014/main" id="{7CE5831D-DA42-4625-A84C-C3348053222F}"/>
              </a:ext>
            </a:extLst>
          </p:cNvPr>
          <p:cNvSpPr>
            <a:spLocks xmlns:a="http://schemas.openxmlformats.org/drawingml/2006/main" noGrp="1"/>
          </p:cNvSpPr>
          <p:nvPr/>
        </p:nvSpPr>
        <p:spPr>
          <a:xfrm xmlns:a="http://schemas.openxmlformats.org/drawingml/2006/main">
            <a:off x="438150" y="323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9B57"/>
                </a:solidFill>
                <a:latin typeface="DIN Condensed"/>
                <a:ea typeface="DIN Condensed"/>
                <a:cs typeface="DIN Condensed"/>
              </a:defRPr>
            </a:pPr>
            <a:r>
              <a:rPr sz="1350" b="1">
                <a:solidFill>
                  <a:srgbClr val="E99B57"/>
                </a:solidFill>
                <a:latin typeface="DIN Condensed"/>
                <a:ea typeface="DIN Condensed"/>
                <a:cs typeface="DIN Condensed"/>
              </a:rPr>
              <a:t>06</a:t>
            </a:r>
          </a:p>
        </p:txBody>
      </p:sp>
      <p:sp>
        <p:nvSpPr>
          <p:cNvPr id="3" name="">
            <a:extLst xmlns:a="http://schemas.openxmlformats.org/drawingml/2006/main">
              <a:ext uri="{FF2B5EF4-FFF2-40B4-BE49-F238E27FC236}">
                <a16:creationId xmlns:a16="http://schemas.microsoft.com/office/drawing/2014/main" id="{FC7B450C-7D30-410F-AEB4-82023B22FDD4}"/>
              </a:ext>
            </a:extLst>
          </p:cNvPr>
          <p:cNvSpPr>
            <a:spLocks xmlns:a="http://schemas.openxmlformats.org/drawingml/2006/main" noGrp="1"/>
          </p:cNvSpPr>
          <p:nvPr/>
        </p:nvSpPr>
        <p:spPr>
          <a:xfrm xmlns:a="http://schemas.openxmlformats.org/drawingml/2006/main">
            <a:off x="1066800" y="24765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71817"/>
                </a:solidFill>
                <a:latin typeface="DIN Condensed"/>
                <a:ea typeface="DIN Condensed"/>
                <a:cs typeface="DIN Condensed"/>
              </a:defRPr>
            </a:pPr>
            <a:r>
              <a:rPr sz="3300" b="1">
                <a:solidFill>
                  <a:srgbClr val="171817"/>
                </a:solidFill>
                <a:latin typeface="DIN Condensed"/>
                <a:ea typeface="DIN Condensed"/>
                <a:cs typeface="DIN Condensed"/>
              </a:rPr>
              <a:t>Hedera architecture</a:t>
            </a:r>
          </a:p>
        </p:txBody>
      </p:sp>
      <p:sp>
        <p:nvSpPr>
          <p:cNvPr id="4" name="">
            <a:extLst xmlns:a="http://schemas.openxmlformats.org/drawingml/2006/main">
              <a:ext uri="{FF2B5EF4-FFF2-40B4-BE49-F238E27FC236}">
                <a16:creationId xmlns:a16="http://schemas.microsoft.com/office/drawing/2014/main" id="{FAA3FE13-A010-4FC0-BD06-5DBE3EF16192}"/>
              </a:ext>
            </a:extLst>
          </p:cNvPr>
          <p:cNvSpPr>
            <a:spLocks xmlns:a="http://schemas.openxmlformats.org/drawingml/2006/main" noGrp="1"/>
          </p:cNvSpPr>
          <p:nvPr/>
        </p:nvSpPr>
        <p:spPr>
          <a:xfrm xmlns:a="http://schemas.openxmlformats.org/drawingml/2006/main">
            <a:off x="1085850" y="8191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8655D"/>
                </a:solidFill>
                <a:latin typeface="Helvetica Neue"/>
                <a:ea typeface="Helvetica Neue"/>
                <a:cs typeface="Helvetica Neue"/>
              </a:defRPr>
            </a:pPr>
            <a:r>
              <a:rPr sz="1425" b="0">
                <a:solidFill>
                  <a:srgbClr val="58655D"/>
                </a:solidFill>
                <a:latin typeface="Helvetica Neue"/>
                <a:ea typeface="Helvetica Neue"/>
                <a:cs typeface="Helvetica Neue"/>
              </a:rPr>
              <a:t>The ATS security remains authoritative while Swan coordinates financing and recovery.</a:t>
            </a:r>
          </a:p>
        </p:txBody>
      </p:sp>
      <p:sp>
        <p:nvSpPr>
          <p:cNvPr id="5" name="">
            <a:extLst xmlns:a="http://schemas.openxmlformats.org/drawingml/2006/main">
              <a:ext uri="{FF2B5EF4-FFF2-40B4-BE49-F238E27FC236}">
                <a16:creationId xmlns:a16="http://schemas.microsoft.com/office/drawing/2014/main" id="{24DEA4AD-124A-4A46-92DB-F09DB5235E5A}"/>
              </a:ext>
            </a:extLst>
          </p:cNvPr>
          <p:cNvSpPr>
            <a:spLocks xmlns:a="http://schemas.openxmlformats.org/drawingml/2006/main" noGrp="1"/>
          </p:cNvSpPr>
          <p:nvPr/>
        </p:nvSpPr>
        <p:spPr>
          <a:xfrm xmlns:a="http://schemas.openxmlformats.org/drawingml/2006/main">
            <a:off x="11049000" y="3429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DIN Condensed"/>
                <a:ea typeface="DIN Condensed"/>
                <a:cs typeface="DIN Condensed"/>
              </a:defRPr>
            </a:pPr>
            <a:r>
              <a:rPr sz="1350" b="1">
                <a:solidFill>
                  <a:srgbClr val="171817"/>
                </a:solidFill>
                <a:latin typeface="DIN Condensed"/>
                <a:ea typeface="DIN Condensed"/>
                <a:cs typeface="DIN Condensed"/>
              </a:rPr>
              <a:t>SWAN</a:t>
            </a:r>
          </a:p>
        </p:txBody>
      </p:sp>
      <p:sp>
        <p:nvSpPr>
          <p:cNvPr id="6" name="">
            <a:extLst xmlns:a="http://schemas.openxmlformats.org/drawingml/2006/main">
              <a:ext uri="{FF2B5EF4-FFF2-40B4-BE49-F238E27FC236}">
                <a16:creationId xmlns:a16="http://schemas.microsoft.com/office/drawing/2014/main" id="{C50A63CF-1567-4721-936B-1DF49A3AE833}"/>
              </a:ext>
            </a:extLst>
          </p:cNvPr>
          <p:cNvSpPr>
            <a:spLocks xmlns:a="http://schemas.openxmlformats.org/drawingml/2006/main" noGrp="1"/>
          </p:cNvSpPr>
          <p:nvPr/>
        </p:nvSpPr>
        <p:spPr>
          <a:xfrm xmlns:a="http://schemas.openxmlformats.org/drawingml/2006/main">
            <a:off x="1066800" y="1162050"/>
            <a:ext cx="10668000" cy="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7" name="">
            <a:extLst xmlns:a="http://schemas.openxmlformats.org/drawingml/2006/main">
              <a:ext uri="{FF2B5EF4-FFF2-40B4-BE49-F238E27FC236}">
                <a16:creationId xmlns:a16="http://schemas.microsoft.com/office/drawing/2014/main" id="{50B13330-3BD2-470F-96F7-64AF8818D9EB}"/>
              </a:ext>
            </a:extLst>
          </p:cNvPr>
          <p:cNvSpPr>
            <a:spLocks xmlns:a="http://schemas.openxmlformats.org/drawingml/2006/main" noGrp="1"/>
          </p:cNvSpPr>
          <p:nvPr/>
        </p:nvSpPr>
        <p:spPr>
          <a:xfrm xmlns:a="http://schemas.openxmlformats.org/drawingml/2006/main">
            <a:off x="666750" y="1695450"/>
            <a:ext cx="2333625" cy="857250"/>
          </a:xfrm>
          <a:prstGeom xmlns:a="http://schemas.openxmlformats.org/drawingml/2006/main" prst="roundRect">
            <a:avLst>
              <a:gd name="adj" fmla="val 15556"/>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83079"/>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Wallet A</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Borrower, reviewer, price signer</a:t>
            </a:r>
          </a:p>
        </p:txBody>
      </p:sp>
      <p:sp>
        <p:nvSpPr>
          <p:cNvPr id="8" name="">
            <a:extLst xmlns:a="http://schemas.openxmlformats.org/drawingml/2006/main">
              <a:ext uri="{FF2B5EF4-FFF2-40B4-BE49-F238E27FC236}">
                <a16:creationId xmlns:a16="http://schemas.microsoft.com/office/drawing/2014/main" id="{DD04E709-509B-4C6A-9DC8-11C04B1A99A5}"/>
              </a:ext>
            </a:extLst>
          </p:cNvPr>
          <p:cNvSpPr>
            <a:spLocks xmlns:a="http://schemas.openxmlformats.org/drawingml/2006/main" noGrp="1"/>
          </p:cNvSpPr>
          <p:nvPr/>
        </p:nvSpPr>
        <p:spPr>
          <a:xfrm xmlns:a="http://schemas.openxmlformats.org/drawingml/2006/main">
            <a:off x="666750" y="2952750"/>
            <a:ext cx="2333625" cy="857250"/>
          </a:xfrm>
          <a:prstGeom xmlns:a="http://schemas.openxmlformats.org/drawingml/2006/main" prst="roundRect">
            <a:avLst>
              <a:gd name="adj" fmla="val 15556"/>
            </a:avLst>
          </a:prstGeom>
          <a:solidFill xmlns:a="http://schemas.openxmlformats.org/drawingml/2006/main">
            <a:srgbClr val="A9C1CE"/>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83079"/>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Wallet B</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Lender and eligible bidder</a:t>
            </a:r>
          </a:p>
        </p:txBody>
      </p:sp>
      <p:sp>
        <p:nvSpPr>
          <p:cNvPr id="9" name="">
            <a:extLst xmlns:a="http://schemas.openxmlformats.org/drawingml/2006/main">
              <a:ext uri="{FF2B5EF4-FFF2-40B4-BE49-F238E27FC236}">
                <a16:creationId xmlns:a16="http://schemas.microsoft.com/office/drawing/2014/main" id="{A063C18C-23D5-48A5-AEB9-AB22405D0DAE}"/>
              </a:ext>
            </a:extLst>
          </p:cNvPr>
          <p:cNvSpPr>
            <a:spLocks xmlns:a="http://schemas.openxmlformats.org/drawingml/2006/main" noGrp="1"/>
          </p:cNvSpPr>
          <p:nvPr/>
        </p:nvSpPr>
        <p:spPr>
          <a:xfrm xmlns:a="http://schemas.openxmlformats.org/drawingml/2006/main">
            <a:off x="3714750" y="2190750"/>
            <a:ext cx="2476500" cy="1028700"/>
          </a:xfrm>
          <a:prstGeom xmlns:a="http://schemas.openxmlformats.org/drawingml/2006/main" prst="roundRect">
            <a:avLst>
              <a:gd name="adj" fmla="val 12963"/>
            </a:avLst>
          </a:prstGeom>
          <a:solidFill xmlns:a="http://schemas.openxmlformats.org/drawingml/2006/main">
            <a:srgbClr val="F4F2E6"/>
          </a:solidFill>
          <a:ln xmlns:a="http://schemas.openxmlformats.org/drawingml/2006/main" w="28575">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React + TypeScript</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RainbowKit</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wagmi + ethers</a:t>
            </a:r>
          </a:p>
        </p:txBody>
      </p:sp>
      <p:sp>
        <p:nvSpPr>
          <p:cNvPr id="10" name="">
            <a:extLst xmlns:a="http://schemas.openxmlformats.org/drawingml/2006/main">
              <a:ext uri="{FF2B5EF4-FFF2-40B4-BE49-F238E27FC236}">
                <a16:creationId xmlns:a16="http://schemas.microsoft.com/office/drawing/2014/main" id="{C195E281-F84A-41FC-80B5-C0FC7E01F703}"/>
              </a:ext>
            </a:extLst>
          </p:cNvPr>
          <p:cNvSpPr>
            <a:spLocks xmlns:a="http://schemas.openxmlformats.org/drawingml/2006/main" noGrp="1"/>
          </p:cNvSpPr>
          <p:nvPr/>
        </p:nvSpPr>
        <p:spPr>
          <a:xfrm xmlns:a="http://schemas.openxmlformats.org/drawingml/2006/main">
            <a:off x="7143750" y="1504950"/>
            <a:ext cx="1952625" cy="685800"/>
          </a:xfrm>
          <a:prstGeom xmlns:a="http://schemas.openxmlformats.org/drawingml/2006/main" prst="roundRect">
            <a:avLst>
              <a:gd name="adj" fmla="val 19444"/>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RepoLifecycle</a:t>
            </a:r>
          </a:p>
        </p:txBody>
      </p:sp>
      <p:sp>
        <p:nvSpPr>
          <p:cNvPr id="11" name="">
            <a:extLst xmlns:a="http://schemas.openxmlformats.org/drawingml/2006/main">
              <a:ext uri="{FF2B5EF4-FFF2-40B4-BE49-F238E27FC236}">
                <a16:creationId xmlns:a16="http://schemas.microsoft.com/office/drawing/2014/main" id="{72532375-BBD4-4E0D-B83B-9E2416E14EEC}"/>
              </a:ext>
            </a:extLst>
          </p:cNvPr>
          <p:cNvSpPr>
            <a:spLocks xmlns:a="http://schemas.openxmlformats.org/drawingml/2006/main" noGrp="1"/>
          </p:cNvSpPr>
          <p:nvPr/>
        </p:nvSpPr>
        <p:spPr>
          <a:xfrm xmlns:a="http://schemas.openxmlformats.org/drawingml/2006/main">
            <a:off x="7143750" y="2400300"/>
            <a:ext cx="1952625" cy="685800"/>
          </a:xfrm>
          <a:prstGeom xmlns:a="http://schemas.openxmlformats.org/drawingml/2006/main" prst="roundRect">
            <a:avLst>
              <a:gd name="adj" fmla="val 19444"/>
            </a:avLst>
          </a:prstGeom>
          <a:solidFill xmlns:a="http://schemas.openxmlformats.org/drawingml/2006/main">
            <a:srgbClr val="F4D6B9"/>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SignedPriceOracle</a:t>
            </a:r>
          </a:p>
        </p:txBody>
      </p:sp>
      <p:sp>
        <p:nvSpPr>
          <p:cNvPr id="12" name="">
            <a:extLst xmlns:a="http://schemas.openxmlformats.org/drawingml/2006/main">
              <a:ext uri="{FF2B5EF4-FFF2-40B4-BE49-F238E27FC236}">
                <a16:creationId xmlns:a16="http://schemas.microsoft.com/office/drawing/2014/main" id="{D7AB4F6E-6515-41CA-877D-DA3090EFAF19}"/>
              </a:ext>
            </a:extLst>
          </p:cNvPr>
          <p:cNvSpPr>
            <a:spLocks xmlns:a="http://schemas.openxmlformats.org/drawingml/2006/main" noGrp="1"/>
          </p:cNvSpPr>
          <p:nvPr/>
        </p:nvSpPr>
        <p:spPr>
          <a:xfrm xmlns:a="http://schemas.openxmlformats.org/drawingml/2006/main">
            <a:off x="7143750" y="3295650"/>
            <a:ext cx="1952625" cy="685800"/>
          </a:xfrm>
          <a:prstGeom xmlns:a="http://schemas.openxmlformats.org/drawingml/2006/main" prst="roundRect">
            <a:avLst>
              <a:gd name="adj" fmla="val 19444"/>
            </a:avLst>
          </a:prstGeom>
          <a:solidFill xmlns:a="http://schemas.openxmlformats.org/drawingml/2006/main">
            <a:srgbClr val="A9C1CE"/>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ComplianceAuction</a:t>
            </a:r>
          </a:p>
        </p:txBody>
      </p:sp>
      <p:sp>
        <p:nvSpPr>
          <p:cNvPr id="13" name="">
            <a:extLst xmlns:a="http://schemas.openxmlformats.org/drawingml/2006/main">
              <a:ext uri="{FF2B5EF4-FFF2-40B4-BE49-F238E27FC236}">
                <a16:creationId xmlns:a16="http://schemas.microsoft.com/office/drawing/2014/main" id="{5FDA908C-2975-456F-B04C-A5955B8102D9}"/>
              </a:ext>
            </a:extLst>
          </p:cNvPr>
          <p:cNvSpPr>
            <a:spLocks xmlns:a="http://schemas.openxmlformats.org/drawingml/2006/main" noGrp="1"/>
          </p:cNvSpPr>
          <p:nvPr/>
        </p:nvSpPr>
        <p:spPr>
          <a:xfrm xmlns:a="http://schemas.openxmlformats.org/drawingml/2006/main">
            <a:off x="7143750" y="4191000"/>
            <a:ext cx="1952625" cy="685800"/>
          </a:xfrm>
          <a:prstGeom xmlns:a="http://schemas.openxmlformats.org/drawingml/2006/main" prst="roundRect">
            <a:avLst>
              <a:gd name="adj" fmla="val 19444"/>
            </a:avLst>
          </a:prstGeom>
          <a:solidFill xmlns:a="http://schemas.openxmlformats.org/drawingml/2006/main">
            <a:srgbClr val="E7EBDD"/>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KycAccessRegistry</a:t>
            </a:r>
          </a:p>
        </p:txBody>
      </p:sp>
      <p:sp>
        <p:nvSpPr>
          <p:cNvPr id="14" name="">
            <a:extLst xmlns:a="http://schemas.openxmlformats.org/drawingml/2006/main">
              <a:ext uri="{FF2B5EF4-FFF2-40B4-BE49-F238E27FC236}">
                <a16:creationId xmlns:a16="http://schemas.microsoft.com/office/drawing/2014/main" id="{49DE1529-B8EE-48FE-99F5-F47D56FC70BB}"/>
              </a:ext>
            </a:extLst>
          </p:cNvPr>
          <p:cNvSpPr>
            <a:spLocks xmlns:a="http://schemas.openxmlformats.org/drawingml/2006/main" noGrp="1"/>
          </p:cNvSpPr>
          <p:nvPr/>
        </p:nvSpPr>
        <p:spPr>
          <a:xfrm xmlns:a="http://schemas.openxmlformats.org/drawingml/2006/main">
            <a:off x="9906000" y="1962150"/>
            <a:ext cx="1809750" cy="952500"/>
          </a:xfrm>
          <a:prstGeom xmlns:a="http://schemas.openxmlformats.org/drawingml/2006/main" prst="roundRect">
            <a:avLst>
              <a:gd name="adj" fmla="val 14000"/>
            </a:avLst>
          </a:prstGeom>
          <a:solidFill xmlns:a="http://schemas.openxmlformats.org/drawingml/2006/main">
            <a:srgbClr val="AFC3A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95706"/>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4 ATS bonds</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KYC, pause, freeze</a:t>
            </a:r>
          </a:p>
        </p:txBody>
      </p:sp>
      <p:sp>
        <p:nvSpPr>
          <p:cNvPr id="15" name="">
            <a:extLst xmlns:a="http://schemas.openxmlformats.org/drawingml/2006/main">
              <a:ext uri="{FF2B5EF4-FFF2-40B4-BE49-F238E27FC236}">
                <a16:creationId xmlns:a16="http://schemas.microsoft.com/office/drawing/2014/main" id="{3708CE77-7AD4-4535-95B2-CDEA61CFD857}"/>
              </a:ext>
            </a:extLst>
          </p:cNvPr>
          <p:cNvSpPr>
            <a:spLocks xmlns:a="http://schemas.openxmlformats.org/drawingml/2006/main" noGrp="1"/>
          </p:cNvSpPr>
          <p:nvPr/>
        </p:nvSpPr>
        <p:spPr>
          <a:xfrm xmlns:a="http://schemas.openxmlformats.org/drawingml/2006/main">
            <a:off x="9906000" y="3486150"/>
            <a:ext cx="1809750" cy="952500"/>
          </a:xfrm>
          <a:prstGeom xmlns:a="http://schemas.openxmlformats.org/drawingml/2006/main" prst="roundRect">
            <a:avLst>
              <a:gd name="adj" fmla="val 14000"/>
            </a:avLst>
          </a:prstGeom>
          <a:solidFill xmlns:a="http://schemas.openxmlformats.org/drawingml/2006/main">
            <a:srgbClr val="A9C1CE"/>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95706"/>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Native testnet USDC</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0.0.429274</a:t>
            </a:r>
          </a:p>
        </p:txBody>
      </p:sp>
      <p:cxnSp>
        <p:nvCxnSpPr>
          <p:cNvPr id="44" name=""/>
          <p:cNvCxnSpPr>
            <a:stCxn xmlns:a="http://schemas.openxmlformats.org/drawingml/2006/main" id="7" idx="3"/>
            <a:endCxn xmlns:a="http://schemas.openxmlformats.org/drawingml/2006/main" id="9" idx="1"/>
          </p:cNvCxnSpPr>
          <p:nvPr/>
        </p:nvCxnSpPr>
        <p:spPr>
          <a:xfrm xmlns:a="http://schemas.openxmlformats.org/drawingml/2006/main">
            <a:off x="3000375" y="2124075"/>
            <a:ext cx="714375" cy="581025"/>
          </a:xfrm>
          <a:prstGeom xmlns:a="http://schemas.openxmlformats.org/drawingml/2006/main" prst="straightConnector1">
            <a:avLst/>
          </a:prstGeom>
          <a:ln xmlns:a="http://schemas.openxmlformats.org/drawingml/2006/main" w="19050">
            <a:solidFill>
              <a:srgbClr val="171817"/>
            </a:solidFill>
            <a:prstDash val="solid"/>
            <a:tailEnd type="arrow" w="med" len="med"/>
          </a:ln>
        </p:spPr>
      </p:cxnSp>
      <p:cxnSp>
        <p:nvCxnSpPr>
          <p:cNvPr id="45" name=""/>
          <p:cNvCxnSpPr>
            <a:stCxn xmlns:a="http://schemas.openxmlformats.org/drawingml/2006/main" id="8" idx="3"/>
            <a:endCxn xmlns:a="http://schemas.openxmlformats.org/drawingml/2006/main" id="9" idx="1"/>
          </p:cNvCxnSpPr>
          <p:nvPr/>
        </p:nvCxnSpPr>
        <p:spPr>
          <a:xfrm xmlns:a="http://schemas.openxmlformats.org/drawingml/2006/main" flipV="1">
            <a:off x="3000375" y="2705100"/>
            <a:ext cx="714375" cy="676275"/>
          </a:xfrm>
          <a:prstGeom xmlns:a="http://schemas.openxmlformats.org/drawingml/2006/main" prst="straightConnector1">
            <a:avLst/>
          </a:prstGeom>
          <a:ln xmlns:a="http://schemas.openxmlformats.org/drawingml/2006/main" w="19050">
            <a:solidFill>
              <a:srgbClr val="171817"/>
            </a:solidFill>
            <a:prstDash val="solid"/>
            <a:tailEnd type="arrow" w="med" len="med"/>
          </a:ln>
        </p:spPr>
      </p:cxnSp>
      <p:cxnSp>
        <p:nvCxnSpPr>
          <p:cNvPr id="46" name=""/>
          <p:cNvCxnSpPr>
            <a:stCxn xmlns:a="http://schemas.openxmlformats.org/drawingml/2006/main" id="9" idx="3"/>
            <a:endCxn xmlns:a="http://schemas.openxmlformats.org/drawingml/2006/main" id="10" idx="1"/>
          </p:cNvCxnSpPr>
          <p:nvPr/>
        </p:nvCxnSpPr>
        <p:spPr>
          <a:xfrm xmlns:a="http://schemas.openxmlformats.org/drawingml/2006/main" flipV="1">
            <a:off x="6191250" y="1847850"/>
            <a:ext cx="952500" cy="857250"/>
          </a:xfrm>
          <a:prstGeom xmlns:a="http://schemas.openxmlformats.org/drawingml/2006/main" prst="bentConnector3">
            <a:avLst>
              <a:gd name="adj1" fmla="val 50000"/>
            </a:avLst>
          </a:prstGeom>
          <a:ln xmlns:a="http://schemas.openxmlformats.org/drawingml/2006/main" w="19050">
            <a:solidFill>
              <a:srgbClr val="171817"/>
            </a:solidFill>
            <a:prstDash val="solid"/>
            <a:tailEnd type="arrow" w="med" len="med"/>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6191250" y="2705100"/>
            <a:ext cx="952500" cy="38100"/>
          </a:xfrm>
          <a:prstGeom xmlns:a="http://schemas.openxmlformats.org/drawingml/2006/main" prst="bentConnector3">
            <a:avLst>
              <a:gd name="adj1" fmla="val 50000"/>
            </a:avLst>
          </a:prstGeom>
          <a:ln xmlns:a="http://schemas.openxmlformats.org/drawingml/2006/main" w="19050">
            <a:solidFill>
              <a:srgbClr val="171817"/>
            </a:solidFill>
            <a:prstDash val="solid"/>
            <a:tailEnd type="arrow" w="med" len="med"/>
          </a:ln>
        </p:spPr>
      </p:cxnSp>
      <p:cxnSp>
        <p:nvCxnSpPr>
          <p:cNvPr id="48" name=""/>
          <p:cNvCxnSpPr>
            <a:stCxn xmlns:a="http://schemas.openxmlformats.org/drawingml/2006/main" id="9" idx="3"/>
            <a:endCxn xmlns:a="http://schemas.openxmlformats.org/drawingml/2006/main" id="12" idx="1"/>
          </p:cNvCxnSpPr>
          <p:nvPr/>
        </p:nvCxnSpPr>
        <p:spPr>
          <a:xfrm xmlns:a="http://schemas.openxmlformats.org/drawingml/2006/main">
            <a:off x="6191250" y="2705100"/>
            <a:ext cx="952500" cy="933450"/>
          </a:xfrm>
          <a:prstGeom xmlns:a="http://schemas.openxmlformats.org/drawingml/2006/main" prst="bentConnector3">
            <a:avLst>
              <a:gd name="adj1" fmla="val 50000"/>
            </a:avLst>
          </a:prstGeom>
          <a:ln xmlns:a="http://schemas.openxmlformats.org/drawingml/2006/main" w="19050">
            <a:solidFill>
              <a:srgbClr val="171817"/>
            </a:solidFill>
            <a:prstDash val="solid"/>
            <a:tailEnd type="arrow" w="med" len="med"/>
          </a:ln>
        </p:spPr>
      </p:cxnSp>
      <p:cxnSp>
        <p:nvCxnSpPr>
          <p:cNvPr id="49" name=""/>
          <p:cNvCxnSpPr>
            <a:stCxn xmlns:a="http://schemas.openxmlformats.org/drawingml/2006/main" id="9" idx="3"/>
            <a:endCxn xmlns:a="http://schemas.openxmlformats.org/drawingml/2006/main" id="13" idx="1"/>
          </p:cNvCxnSpPr>
          <p:nvPr/>
        </p:nvCxnSpPr>
        <p:spPr>
          <a:xfrm xmlns:a="http://schemas.openxmlformats.org/drawingml/2006/main">
            <a:off x="6191250" y="2705100"/>
            <a:ext cx="952500" cy="1828800"/>
          </a:xfrm>
          <a:prstGeom xmlns:a="http://schemas.openxmlformats.org/drawingml/2006/main" prst="bentConnector3">
            <a:avLst>
              <a:gd name="adj1" fmla="val 50000"/>
            </a:avLst>
          </a:prstGeom>
          <a:ln xmlns:a="http://schemas.openxmlformats.org/drawingml/2006/main" w="19050">
            <a:solidFill>
              <a:srgbClr val="171817"/>
            </a:solidFill>
            <a:prstDash val="solid"/>
            <a:tailEnd type="arrow" w="med" len="med"/>
          </a:ln>
        </p:spPr>
      </p:cxnSp>
      <p:cxnSp>
        <p:nvCxnSpPr>
          <p:cNvPr id="50" name=""/>
          <p:cNvCxnSpPr>
            <a:stCxn xmlns:a="http://schemas.openxmlformats.org/drawingml/2006/main" id="10" idx="3"/>
            <a:endCxn xmlns:a="http://schemas.openxmlformats.org/drawingml/2006/main" id="14" idx="1"/>
          </p:cNvCxnSpPr>
          <p:nvPr/>
        </p:nvCxnSpPr>
        <p:spPr>
          <a:xfrm xmlns:a="http://schemas.openxmlformats.org/drawingml/2006/main">
            <a:off x="9096375" y="1847850"/>
            <a:ext cx="809625" cy="590550"/>
          </a:xfrm>
          <a:prstGeom xmlns:a="http://schemas.openxmlformats.org/drawingml/2006/main" prst="straightConnector1">
            <a:avLst/>
          </a:prstGeom>
          <a:ln xmlns:a="http://schemas.openxmlformats.org/drawingml/2006/main" w="19050">
            <a:solidFill>
              <a:srgbClr val="171817"/>
            </a:solidFill>
            <a:prstDash val="solid"/>
            <a:tailEnd type="arrow" w="med" len="med"/>
          </a:ln>
        </p:spPr>
      </p:cxnSp>
      <p:cxnSp>
        <p:nvCxnSpPr>
          <p:cNvPr id="51" name=""/>
          <p:cNvCxnSpPr>
            <a:stCxn xmlns:a="http://schemas.openxmlformats.org/drawingml/2006/main" id="12" idx="3"/>
            <a:endCxn xmlns:a="http://schemas.openxmlformats.org/drawingml/2006/main" id="14" idx="1"/>
          </p:cNvCxnSpPr>
          <p:nvPr/>
        </p:nvCxnSpPr>
        <p:spPr>
          <a:xfrm xmlns:a="http://schemas.openxmlformats.org/drawingml/2006/main" flipV="1">
            <a:off x="9096375" y="2438400"/>
            <a:ext cx="809625" cy="1200150"/>
          </a:xfrm>
          <a:prstGeom xmlns:a="http://schemas.openxmlformats.org/drawingml/2006/main" prst="straightConnector1">
            <a:avLst/>
          </a:prstGeom>
          <a:ln xmlns:a="http://schemas.openxmlformats.org/drawingml/2006/main" w="19050">
            <a:solidFill>
              <a:srgbClr val="171817"/>
            </a:solidFill>
            <a:prstDash val="solid"/>
            <a:tailEnd type="arrow" w="med" len="med"/>
          </a:ln>
        </p:spPr>
      </p:cxnSp>
      <p:cxnSp>
        <p:nvCxnSpPr>
          <p:cNvPr id="52" name=""/>
          <p:cNvCxnSpPr>
            <a:stCxn xmlns:a="http://schemas.openxmlformats.org/drawingml/2006/main" id="10" idx="3"/>
            <a:endCxn xmlns:a="http://schemas.openxmlformats.org/drawingml/2006/main" id="15" idx="1"/>
          </p:cNvCxnSpPr>
          <p:nvPr/>
        </p:nvCxnSpPr>
        <p:spPr>
          <a:xfrm xmlns:a="http://schemas.openxmlformats.org/drawingml/2006/main">
            <a:off x="9096375" y="1847850"/>
            <a:ext cx="809625" cy="2114550"/>
          </a:xfrm>
          <a:prstGeom xmlns:a="http://schemas.openxmlformats.org/drawingml/2006/main" prst="straightConnector1">
            <a:avLst/>
          </a:prstGeom>
          <a:ln xmlns:a="http://schemas.openxmlformats.org/drawingml/2006/main" w="19050">
            <a:solidFill>
              <a:srgbClr val="171817"/>
            </a:solidFill>
            <a:prstDash val="solid"/>
            <a:tailEnd type="arrow" w="med" len="med"/>
          </a:ln>
        </p:spPr>
      </p:cxnSp>
      <p:cxnSp>
        <p:nvCxnSpPr>
          <p:cNvPr id="53" name=""/>
          <p:cNvCxnSpPr>
            <a:stCxn xmlns:a="http://schemas.openxmlformats.org/drawingml/2006/main" id="12" idx="3"/>
            <a:endCxn xmlns:a="http://schemas.openxmlformats.org/drawingml/2006/main" id="15" idx="1"/>
          </p:cNvCxnSpPr>
          <p:nvPr/>
        </p:nvCxnSpPr>
        <p:spPr>
          <a:xfrm xmlns:a="http://schemas.openxmlformats.org/drawingml/2006/main">
            <a:off x="9096375" y="3638550"/>
            <a:ext cx="809625" cy="323850"/>
          </a:xfrm>
          <a:prstGeom xmlns:a="http://schemas.openxmlformats.org/drawingml/2006/main" prst="straightConnector1">
            <a:avLst/>
          </a:prstGeom>
          <a:ln xmlns:a="http://schemas.openxmlformats.org/drawingml/2006/main" w="19050">
            <a:solidFill>
              <a:srgbClr val="171817"/>
            </a:solidFill>
            <a:prstDash val="solid"/>
            <a:tailEnd type="arrow" w="med" len="med"/>
          </a:ln>
        </p:spPr>
      </p:cxnSp>
      <p:sp>
        <p:nvSpPr>
          <p:cNvPr id="26" name="">
            <a:extLst xmlns:a="http://schemas.openxmlformats.org/drawingml/2006/main">
              <a:ext uri="{FF2B5EF4-FFF2-40B4-BE49-F238E27FC236}">
                <a16:creationId xmlns:a16="http://schemas.microsoft.com/office/drawing/2014/main" id="{AEBCC3F7-6B6D-4832-BCAF-AC1309409CBD}"/>
              </a:ext>
            </a:extLst>
          </p:cNvPr>
          <p:cNvSpPr>
            <a:spLocks xmlns:a="http://schemas.openxmlformats.org/drawingml/2006/main" noGrp="1"/>
          </p:cNvSpPr>
          <p:nvPr/>
        </p:nvSpPr>
        <p:spPr>
          <a:xfrm xmlns:a="http://schemas.openxmlformats.org/drawingml/2006/main">
            <a:off x="666750" y="5429250"/>
            <a:ext cx="11049000" cy="838200"/>
          </a:xfrm>
          <a:prstGeom xmlns:a="http://schemas.openxmlformats.org/drawingml/2006/main" prst="rect">
            <a:avLst/>
          </a:prstGeom>
          <a:solidFill xmlns:a="http://schemas.openxmlformats.org/drawingml/2006/main">
            <a:srgbClr val="171817"/>
          </a:solidFill>
          <a:ln xmlns:a="http://schemas.openxmlformats.org/drawingml/2006/main" w="0">
            <a:solidFill>
              <a:srgbClr val="171817"/>
            </a:solidFill>
            <a:prstDash val="solid"/>
          </a:ln>
        </p:spPr>
      </p:sp>
      <p:sp>
        <p:nvSpPr>
          <p:cNvPr id="27" name="">
            <a:extLst xmlns:a="http://schemas.openxmlformats.org/drawingml/2006/main">
              <a:ext uri="{FF2B5EF4-FFF2-40B4-BE49-F238E27FC236}">
                <a16:creationId xmlns:a16="http://schemas.microsoft.com/office/drawing/2014/main" id="{2708101B-C254-4A01-A5ED-30EB367DCC16}"/>
              </a:ext>
            </a:extLst>
          </p:cNvPr>
          <p:cNvSpPr>
            <a:spLocks xmlns:a="http://schemas.openxmlformats.org/drawingml/2006/main" noGrp="1"/>
          </p:cNvSpPr>
          <p:nvPr/>
        </p:nvSpPr>
        <p:spPr>
          <a:xfrm xmlns:a="http://schemas.openxmlformats.org/drawingml/2006/main">
            <a:off x="895350" y="56197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99B57"/>
                </a:solidFill>
                <a:latin typeface="DIN Condensed"/>
                <a:ea typeface="DIN Condensed"/>
                <a:cs typeface="DIN Condensed"/>
              </a:defRPr>
            </a:pPr>
            <a:r>
              <a:rPr sz="1650" b="1">
                <a:solidFill>
                  <a:srgbClr val="E99B57"/>
                </a:solidFill>
                <a:latin typeface="DIN Condensed"/>
                <a:ea typeface="DIN Condensed"/>
                <a:cs typeface="DIN Condensed"/>
              </a:rPr>
              <a:t>HEDERA TESTNET / CHAIN 296</a:t>
            </a:r>
          </a:p>
        </p:txBody>
      </p:sp>
      <p:sp>
        <p:nvSpPr>
          <p:cNvPr id="28" name="">
            <a:extLst xmlns:a="http://schemas.openxmlformats.org/drawingml/2006/main">
              <a:ext uri="{FF2B5EF4-FFF2-40B4-BE49-F238E27FC236}">
                <a16:creationId xmlns:a16="http://schemas.microsoft.com/office/drawing/2014/main" id="{264B62FA-8FE2-49F9-8C25-115C7B3CC8F6}"/>
              </a:ext>
            </a:extLst>
          </p:cNvPr>
          <p:cNvSpPr>
            <a:spLocks xmlns:a="http://schemas.openxmlformats.org/drawingml/2006/main" noGrp="1"/>
          </p:cNvSpPr>
          <p:nvPr/>
        </p:nvSpPr>
        <p:spPr>
          <a:xfrm xmlns:a="http://schemas.openxmlformats.org/drawingml/2006/main">
            <a:off x="4191000" y="561975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75" b="0">
                <a:solidFill>
                  <a:srgbClr val="F4F2E6"/>
                </a:solidFill>
                <a:latin typeface="Helvetica Neue"/>
                <a:ea typeface="Helvetica Neue"/>
                <a:cs typeface="Helvetica Neue"/>
              </a:defRPr>
            </a:pPr>
            <a:r>
              <a:rPr sz="1575" b="0">
                <a:solidFill>
                  <a:srgbClr val="F4F2E6"/>
                </a:solidFill>
                <a:latin typeface="Helvetica Neue"/>
                <a:ea typeface="Helvetica Neue"/>
                <a:cs typeface="Helvetica Neue"/>
              </a:rPr>
              <a:t>Solidity contracts + Hardhat tests + ATS transfer rules + HashScan evidence</a:t>
            </a:r>
          </a:p>
        </p:txBody>
      </p:sp>
    </p:spTree>
    <p:extLst>
      <p:ext uri="{BB962C8B-B14F-4D97-AF65-F5344CB8AC3E}">
        <p14:creationId xmlns:p14="http://schemas.microsoft.com/office/powerpoint/2010/main" val="964297018"/>
      </p:ext>
    </p:extLst>
  </p:cSld>
</p:sld>
</file>

<file path=ppt/slides/slide7.xml><?xml version="1.0" encoding="utf-8"?>
<p:sld xmlns:p="http://schemas.openxmlformats.org/presentationml/2006/main">
  <p:cSld>
    <p:bg>
      <p:bgPr>
        <a:solidFill xmlns:a="http://schemas.openxmlformats.org/drawingml/2006/main">
          <a:srgbClr val="F4F2E6"/>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9035074C-8504-41E4-AC72-D770F685EBD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FC3AC"/>
          </a:solidFill>
          <a:ln xmlns:a="http://schemas.openxmlformats.org/drawingml/2006/main" w="0">
            <a:solidFill>
              <a:srgbClr val="AFC3AC"/>
            </a:solidFill>
            <a:prstDash val="solid"/>
          </a:ln>
        </p:spPr>
      </p:sp>
      <p:sp>
        <p:nvSpPr>
          <p:cNvPr id="2" name="">
            <a:extLst xmlns:a="http://schemas.openxmlformats.org/drawingml/2006/main">
              <a:ext uri="{FF2B5EF4-FFF2-40B4-BE49-F238E27FC236}">
                <a16:creationId xmlns:a16="http://schemas.microsoft.com/office/drawing/2014/main" id="{E2540BE6-E9F9-419B-BF72-BEE28F8F4A58}"/>
              </a:ext>
            </a:extLst>
          </p:cNvPr>
          <p:cNvSpPr>
            <a:spLocks xmlns:a="http://schemas.openxmlformats.org/drawingml/2006/main" noGrp="1"/>
          </p:cNvSpPr>
          <p:nvPr/>
        </p:nvSpPr>
        <p:spPr>
          <a:xfrm xmlns:a="http://schemas.openxmlformats.org/drawingml/2006/main">
            <a:off x="438150" y="323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9B57"/>
                </a:solidFill>
                <a:latin typeface="DIN Condensed"/>
                <a:ea typeface="DIN Condensed"/>
                <a:cs typeface="DIN Condensed"/>
              </a:defRPr>
            </a:pPr>
            <a:r>
              <a:rPr sz="1350" b="1">
                <a:solidFill>
                  <a:srgbClr val="E99B57"/>
                </a:solidFill>
                <a:latin typeface="DIN Condensed"/>
                <a:ea typeface="DIN Condensed"/>
                <a:cs typeface="DIN Condensed"/>
              </a:rPr>
              <a:t>07</a:t>
            </a:r>
          </a:p>
        </p:txBody>
      </p:sp>
      <p:sp>
        <p:nvSpPr>
          <p:cNvPr id="3" name="">
            <a:extLst xmlns:a="http://schemas.openxmlformats.org/drawingml/2006/main">
              <a:ext uri="{FF2B5EF4-FFF2-40B4-BE49-F238E27FC236}">
                <a16:creationId xmlns:a16="http://schemas.microsoft.com/office/drawing/2014/main" id="{AD4F7FC7-259B-46CA-8218-9E4C02D4E7B6}"/>
              </a:ext>
            </a:extLst>
          </p:cNvPr>
          <p:cNvSpPr>
            <a:spLocks xmlns:a="http://schemas.openxmlformats.org/drawingml/2006/main" noGrp="1"/>
          </p:cNvSpPr>
          <p:nvPr/>
        </p:nvSpPr>
        <p:spPr>
          <a:xfrm xmlns:a="http://schemas.openxmlformats.org/drawingml/2006/main">
            <a:off x="1066800" y="24765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71817"/>
                </a:solidFill>
                <a:latin typeface="DIN Condensed"/>
                <a:ea typeface="DIN Condensed"/>
                <a:cs typeface="DIN Condensed"/>
              </a:defRPr>
            </a:pPr>
            <a:r>
              <a:rPr sz="3300" b="1">
                <a:solidFill>
                  <a:srgbClr val="171817"/>
                </a:solidFill>
                <a:latin typeface="DIN Condensed"/>
                <a:ea typeface="DIN Condensed"/>
                <a:cs typeface="DIN Condensed"/>
              </a:rPr>
              <a:t>Useful gamification and default recovery</a:t>
            </a:r>
          </a:p>
        </p:txBody>
      </p:sp>
      <p:sp>
        <p:nvSpPr>
          <p:cNvPr id="4" name="">
            <a:extLst xmlns:a="http://schemas.openxmlformats.org/drawingml/2006/main">
              <a:ext uri="{FF2B5EF4-FFF2-40B4-BE49-F238E27FC236}">
                <a16:creationId xmlns:a16="http://schemas.microsoft.com/office/drawing/2014/main" id="{AA877F96-207E-4FFB-838D-839602A6AF0B}"/>
              </a:ext>
            </a:extLst>
          </p:cNvPr>
          <p:cNvSpPr>
            <a:spLocks xmlns:a="http://schemas.openxmlformats.org/drawingml/2006/main" noGrp="1"/>
          </p:cNvSpPr>
          <p:nvPr/>
        </p:nvSpPr>
        <p:spPr>
          <a:xfrm xmlns:a="http://schemas.openxmlformats.org/drawingml/2006/main">
            <a:off x="1085850" y="8191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8655D"/>
                </a:solidFill>
                <a:latin typeface="Helvetica Neue"/>
                <a:ea typeface="Helvetica Neue"/>
                <a:cs typeface="Helvetica Neue"/>
              </a:defRPr>
            </a:pPr>
            <a:r>
              <a:rPr sz="1425" b="0">
                <a:solidFill>
                  <a:srgbClr val="58655D"/>
                </a:solidFill>
                <a:latin typeface="Helvetica Neue"/>
                <a:ea typeface="Helvetica Neue"/>
                <a:cs typeface="Helvetica Neue"/>
              </a:rPr>
              <a:t>The pressure comes from real financing choices, deadlines, and compliance gates.</a:t>
            </a:r>
          </a:p>
        </p:txBody>
      </p:sp>
      <p:sp>
        <p:nvSpPr>
          <p:cNvPr id="5" name="">
            <a:extLst xmlns:a="http://schemas.openxmlformats.org/drawingml/2006/main">
              <a:ext uri="{FF2B5EF4-FFF2-40B4-BE49-F238E27FC236}">
                <a16:creationId xmlns:a16="http://schemas.microsoft.com/office/drawing/2014/main" id="{A77698EA-517B-47CD-9C92-8A5C488436EF}"/>
              </a:ext>
            </a:extLst>
          </p:cNvPr>
          <p:cNvSpPr>
            <a:spLocks xmlns:a="http://schemas.openxmlformats.org/drawingml/2006/main" noGrp="1"/>
          </p:cNvSpPr>
          <p:nvPr/>
        </p:nvSpPr>
        <p:spPr>
          <a:xfrm xmlns:a="http://schemas.openxmlformats.org/drawingml/2006/main">
            <a:off x="11049000" y="3429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DIN Condensed"/>
                <a:ea typeface="DIN Condensed"/>
                <a:cs typeface="DIN Condensed"/>
              </a:defRPr>
            </a:pPr>
            <a:r>
              <a:rPr sz="1350" b="1">
                <a:solidFill>
                  <a:srgbClr val="171817"/>
                </a:solidFill>
                <a:latin typeface="DIN Condensed"/>
                <a:ea typeface="DIN Condensed"/>
                <a:cs typeface="DIN Condensed"/>
              </a:rPr>
              <a:t>SWAN</a:t>
            </a:r>
          </a:p>
        </p:txBody>
      </p:sp>
      <p:sp>
        <p:nvSpPr>
          <p:cNvPr id="6" name="">
            <a:extLst xmlns:a="http://schemas.openxmlformats.org/drawingml/2006/main">
              <a:ext uri="{FF2B5EF4-FFF2-40B4-BE49-F238E27FC236}">
                <a16:creationId xmlns:a16="http://schemas.microsoft.com/office/drawing/2014/main" id="{D68A57DD-0945-499C-AA5B-7C073BD9538F}"/>
              </a:ext>
            </a:extLst>
          </p:cNvPr>
          <p:cNvSpPr>
            <a:spLocks xmlns:a="http://schemas.openxmlformats.org/drawingml/2006/main" noGrp="1"/>
          </p:cNvSpPr>
          <p:nvPr/>
        </p:nvSpPr>
        <p:spPr>
          <a:xfrm xmlns:a="http://schemas.openxmlformats.org/drawingml/2006/main">
            <a:off x="1066800" y="1162050"/>
            <a:ext cx="10668000" cy="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7" name="">
            <a:extLst xmlns:a="http://schemas.openxmlformats.org/drawingml/2006/main">
              <a:ext uri="{FF2B5EF4-FFF2-40B4-BE49-F238E27FC236}">
                <a16:creationId xmlns:a16="http://schemas.microsoft.com/office/drawing/2014/main" id="{5418D9C5-973A-40E4-B68F-A5C997C0219F}"/>
              </a:ext>
            </a:extLst>
          </p:cNvPr>
          <p:cNvSpPr>
            <a:spLocks xmlns:a="http://schemas.openxmlformats.org/drawingml/2006/main" noGrp="1"/>
          </p:cNvSpPr>
          <p:nvPr/>
        </p:nvSpPr>
        <p:spPr>
          <a:xfrm xmlns:a="http://schemas.openxmlformats.org/drawingml/2006/main">
            <a:off x="1066800" y="15049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B85B55"/>
                </a:solidFill>
                <a:latin typeface="DIN Condensed"/>
                <a:ea typeface="DIN Condensed"/>
                <a:cs typeface="DIN Condensed"/>
              </a:defRPr>
            </a:pPr>
            <a:r>
              <a:rPr sz="1800" b="1">
                <a:solidFill>
                  <a:srgbClr val="B85B55"/>
                </a:solidFill>
                <a:latin typeface="DIN Condensed"/>
                <a:ea typeface="DIN Condensed"/>
                <a:cs typeface="DIN Condensed"/>
              </a:rPr>
              <a:t>DEFAULT PATH</a:t>
            </a:r>
          </a:p>
        </p:txBody>
      </p:sp>
      <p:sp>
        <p:nvSpPr>
          <p:cNvPr id="8" name="">
            <a:extLst xmlns:a="http://schemas.openxmlformats.org/drawingml/2006/main">
              <a:ext uri="{FF2B5EF4-FFF2-40B4-BE49-F238E27FC236}">
                <a16:creationId xmlns:a16="http://schemas.microsoft.com/office/drawing/2014/main" id="{1D0E3061-F249-4FFD-9177-CA2143327B35}"/>
              </a:ext>
            </a:extLst>
          </p:cNvPr>
          <p:cNvSpPr>
            <a:spLocks xmlns:a="http://schemas.openxmlformats.org/drawingml/2006/main" noGrp="1"/>
          </p:cNvSpPr>
          <p:nvPr/>
        </p:nvSpPr>
        <p:spPr>
          <a:xfrm xmlns:a="http://schemas.openxmlformats.org/drawingml/2006/main">
            <a:off x="1066800" y="2057400"/>
            <a:ext cx="457200" cy="457200"/>
          </a:xfrm>
          <a:prstGeom xmlns:a="http://schemas.openxmlformats.org/drawingml/2006/main" prst="roundRect">
            <a:avLst>
              <a:gd name="adj" fmla="val 50000"/>
            </a:avLst>
          </a:prstGeom>
          <a:solidFill xmlns:a="http://schemas.openxmlformats.org/drawingml/2006/main">
            <a:srgbClr val="EAC0B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74755"/>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F3145409-66C7-4E0C-A70E-2D775CFC7577}"/>
              </a:ext>
            </a:extLst>
          </p:cNvPr>
          <p:cNvSpPr>
            <a:spLocks xmlns:a="http://schemas.openxmlformats.org/drawingml/2006/main" noGrp="1"/>
          </p:cNvSpPr>
          <p:nvPr/>
        </p:nvSpPr>
        <p:spPr>
          <a:xfrm xmlns:a="http://schemas.openxmlformats.org/drawingml/2006/main">
            <a:off x="1295400" y="2514600"/>
            <a:ext cx="0" cy="32385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10" name="">
            <a:extLst xmlns:a="http://schemas.openxmlformats.org/drawingml/2006/main">
              <a:ext uri="{FF2B5EF4-FFF2-40B4-BE49-F238E27FC236}">
                <a16:creationId xmlns:a16="http://schemas.microsoft.com/office/drawing/2014/main" id="{BF75F069-6C07-4BD0-ABF7-18AECE91EB26}"/>
              </a:ext>
            </a:extLst>
          </p:cNvPr>
          <p:cNvSpPr>
            <a:spLocks xmlns:a="http://schemas.openxmlformats.org/drawingml/2006/main" noGrp="1"/>
          </p:cNvSpPr>
          <p:nvPr/>
        </p:nvSpPr>
        <p:spPr>
          <a:xfrm xmlns:a="http://schemas.openxmlformats.org/drawingml/2006/main">
            <a:off x="1714500" y="20478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Price storm</a:t>
            </a:r>
          </a:p>
        </p:txBody>
      </p:sp>
      <p:sp>
        <p:nvSpPr>
          <p:cNvPr id="11" name="">
            <a:extLst xmlns:a="http://schemas.openxmlformats.org/drawingml/2006/main">
              <a:ext uri="{FF2B5EF4-FFF2-40B4-BE49-F238E27FC236}">
                <a16:creationId xmlns:a16="http://schemas.microsoft.com/office/drawing/2014/main" id="{FA837A43-0A5F-44D4-9BCC-87BC858E2397}"/>
              </a:ext>
            </a:extLst>
          </p:cNvPr>
          <p:cNvSpPr>
            <a:spLocks xmlns:a="http://schemas.openxmlformats.org/drawingml/2006/main" noGrp="1"/>
          </p:cNvSpPr>
          <p:nvPr/>
        </p:nvSpPr>
        <p:spPr>
          <a:xfrm xmlns:a="http://schemas.openxmlformats.org/drawingml/2006/main">
            <a:off x="1714500" y="22955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Oracle prices reduce post-haircut capacity.</a:t>
            </a:r>
          </a:p>
        </p:txBody>
      </p:sp>
      <p:sp>
        <p:nvSpPr>
          <p:cNvPr id="12" name="">
            <a:extLst xmlns:a="http://schemas.openxmlformats.org/drawingml/2006/main">
              <a:ext uri="{FF2B5EF4-FFF2-40B4-BE49-F238E27FC236}">
                <a16:creationId xmlns:a16="http://schemas.microsoft.com/office/drawing/2014/main" id="{A85B41ED-614D-4DDB-A880-1E414DFA7529}"/>
              </a:ext>
            </a:extLst>
          </p:cNvPr>
          <p:cNvSpPr>
            <a:spLocks xmlns:a="http://schemas.openxmlformats.org/drawingml/2006/main" noGrp="1"/>
          </p:cNvSpPr>
          <p:nvPr/>
        </p:nvSpPr>
        <p:spPr>
          <a:xfrm xmlns:a="http://schemas.openxmlformats.org/drawingml/2006/main">
            <a:off x="1066800" y="2838450"/>
            <a:ext cx="457200" cy="457200"/>
          </a:xfrm>
          <a:prstGeom xmlns:a="http://schemas.openxmlformats.org/drawingml/2006/main" prst="roundRect">
            <a:avLst>
              <a:gd name="adj" fmla="val 50000"/>
            </a:avLst>
          </a:prstGeom>
          <a:solidFill xmlns:a="http://schemas.openxmlformats.org/drawingml/2006/main">
            <a:srgbClr val="EAC0B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74755"/>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D7360E34-4C9A-4DFC-879F-B6D8AE7AE7D2}"/>
              </a:ext>
            </a:extLst>
          </p:cNvPr>
          <p:cNvSpPr>
            <a:spLocks xmlns:a="http://schemas.openxmlformats.org/drawingml/2006/main" noGrp="1"/>
          </p:cNvSpPr>
          <p:nvPr/>
        </p:nvSpPr>
        <p:spPr>
          <a:xfrm xmlns:a="http://schemas.openxmlformats.org/drawingml/2006/main">
            <a:off x="1295400" y="3295650"/>
            <a:ext cx="0" cy="32385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14" name="">
            <a:extLst xmlns:a="http://schemas.openxmlformats.org/drawingml/2006/main">
              <a:ext uri="{FF2B5EF4-FFF2-40B4-BE49-F238E27FC236}">
                <a16:creationId xmlns:a16="http://schemas.microsoft.com/office/drawing/2014/main" id="{67C0AB32-9407-41AF-B070-B327A6CA2748}"/>
              </a:ext>
            </a:extLst>
          </p:cNvPr>
          <p:cNvSpPr>
            <a:spLocks xmlns:a="http://schemas.openxmlformats.org/drawingml/2006/main" noGrp="1"/>
          </p:cNvSpPr>
          <p:nvPr/>
        </p:nvSpPr>
        <p:spPr>
          <a:xfrm xmlns:a="http://schemas.openxmlformats.org/drawingml/2006/main">
            <a:off x="1714500" y="28289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5-minute cure</a:t>
            </a:r>
          </a:p>
        </p:txBody>
      </p:sp>
      <p:sp>
        <p:nvSpPr>
          <p:cNvPr id="15" name="">
            <a:extLst xmlns:a="http://schemas.openxmlformats.org/drawingml/2006/main">
              <a:ext uri="{FF2B5EF4-FFF2-40B4-BE49-F238E27FC236}">
                <a16:creationId xmlns:a16="http://schemas.microsoft.com/office/drawing/2014/main" id="{8AE5FAE9-86B9-4ECF-B80B-605CCF972311}"/>
              </a:ext>
            </a:extLst>
          </p:cNvPr>
          <p:cNvSpPr>
            <a:spLocks xmlns:a="http://schemas.openxmlformats.org/drawingml/2006/main" noGrp="1"/>
          </p:cNvSpPr>
          <p:nvPr/>
        </p:nvSpPr>
        <p:spPr>
          <a:xfrm xmlns:a="http://schemas.openxmlformats.org/drawingml/2006/main">
            <a:off x="1714500" y="30765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Borrower may top up, substitute, or repay.</a:t>
            </a:r>
          </a:p>
        </p:txBody>
      </p:sp>
      <p:sp>
        <p:nvSpPr>
          <p:cNvPr id="16" name="">
            <a:extLst xmlns:a="http://schemas.openxmlformats.org/drawingml/2006/main">
              <a:ext uri="{FF2B5EF4-FFF2-40B4-BE49-F238E27FC236}">
                <a16:creationId xmlns:a16="http://schemas.microsoft.com/office/drawing/2014/main" id="{CB2AD5EC-01EF-4950-81C6-0A0BBD1B53B2}"/>
              </a:ext>
            </a:extLst>
          </p:cNvPr>
          <p:cNvSpPr>
            <a:spLocks xmlns:a="http://schemas.openxmlformats.org/drawingml/2006/main" noGrp="1"/>
          </p:cNvSpPr>
          <p:nvPr/>
        </p:nvSpPr>
        <p:spPr>
          <a:xfrm xmlns:a="http://schemas.openxmlformats.org/drawingml/2006/main">
            <a:off x="1066800" y="3619500"/>
            <a:ext cx="457200" cy="457200"/>
          </a:xfrm>
          <a:prstGeom xmlns:a="http://schemas.openxmlformats.org/drawingml/2006/main" prst="roundRect">
            <a:avLst>
              <a:gd name="adj" fmla="val 50000"/>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74755"/>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498DD7D8-8F0E-4D3A-A6A0-A0B24111327F}"/>
              </a:ext>
            </a:extLst>
          </p:cNvPr>
          <p:cNvSpPr>
            <a:spLocks xmlns:a="http://schemas.openxmlformats.org/drawingml/2006/main" noGrp="1"/>
          </p:cNvSpPr>
          <p:nvPr/>
        </p:nvSpPr>
        <p:spPr>
          <a:xfrm xmlns:a="http://schemas.openxmlformats.org/drawingml/2006/main">
            <a:off x="1295400" y="4076700"/>
            <a:ext cx="0" cy="32385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18" name="">
            <a:extLst xmlns:a="http://schemas.openxmlformats.org/drawingml/2006/main">
              <a:ext uri="{FF2B5EF4-FFF2-40B4-BE49-F238E27FC236}">
                <a16:creationId xmlns:a16="http://schemas.microsoft.com/office/drawing/2014/main" id="{050E2755-6E30-4982-819E-45A1D134D363}"/>
              </a:ext>
            </a:extLst>
          </p:cNvPr>
          <p:cNvSpPr>
            <a:spLocks xmlns:a="http://schemas.openxmlformats.org/drawingml/2006/main" noGrp="1"/>
          </p:cNvSpPr>
          <p:nvPr/>
        </p:nvSpPr>
        <p:spPr>
          <a:xfrm xmlns:a="http://schemas.openxmlformats.org/drawingml/2006/main">
            <a:off x="1714500" y="36099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Fresh sale prices</a:t>
            </a:r>
          </a:p>
        </p:txBody>
      </p:sp>
      <p:sp>
        <p:nvSpPr>
          <p:cNvPr id="19" name="">
            <a:extLst xmlns:a="http://schemas.openxmlformats.org/drawingml/2006/main">
              <a:ext uri="{FF2B5EF4-FFF2-40B4-BE49-F238E27FC236}">
                <a16:creationId xmlns:a16="http://schemas.microsoft.com/office/drawing/2014/main" id="{25AA6A90-2CA5-4AA8-8FC2-A8B21C6EEADB}"/>
              </a:ext>
            </a:extLst>
          </p:cNvPr>
          <p:cNvSpPr>
            <a:spLocks xmlns:a="http://schemas.openxmlformats.org/drawingml/2006/main" noGrp="1"/>
          </p:cNvSpPr>
          <p:nvPr/>
        </p:nvSpPr>
        <p:spPr>
          <a:xfrm xmlns:a="http://schemas.openxmlformats.org/drawingml/2006/main">
            <a:off x="1714500" y="38576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Price signer refreshes auction references.</a:t>
            </a:r>
          </a:p>
        </p:txBody>
      </p:sp>
      <p:sp>
        <p:nvSpPr>
          <p:cNvPr id="20" name="">
            <a:extLst xmlns:a="http://schemas.openxmlformats.org/drawingml/2006/main">
              <a:ext uri="{FF2B5EF4-FFF2-40B4-BE49-F238E27FC236}">
                <a16:creationId xmlns:a16="http://schemas.microsoft.com/office/drawing/2014/main" id="{CDB5F627-07FE-4E61-9CDF-08BE8CBB2EE6}"/>
              </a:ext>
            </a:extLst>
          </p:cNvPr>
          <p:cNvSpPr>
            <a:spLocks xmlns:a="http://schemas.openxmlformats.org/drawingml/2006/main" noGrp="1"/>
          </p:cNvSpPr>
          <p:nvPr/>
        </p:nvSpPr>
        <p:spPr>
          <a:xfrm xmlns:a="http://schemas.openxmlformats.org/drawingml/2006/main">
            <a:off x="1066800" y="4400550"/>
            <a:ext cx="457200" cy="457200"/>
          </a:xfrm>
          <a:prstGeom xmlns:a="http://schemas.openxmlformats.org/drawingml/2006/main" prst="roundRect">
            <a:avLst>
              <a:gd name="adj" fmla="val 50000"/>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74755"/>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450948BD-41EA-42FB-974E-2F9B48E1E51E}"/>
              </a:ext>
            </a:extLst>
          </p:cNvPr>
          <p:cNvSpPr>
            <a:spLocks xmlns:a="http://schemas.openxmlformats.org/drawingml/2006/main" noGrp="1"/>
          </p:cNvSpPr>
          <p:nvPr/>
        </p:nvSpPr>
        <p:spPr>
          <a:xfrm xmlns:a="http://schemas.openxmlformats.org/drawingml/2006/main">
            <a:off x="1295400" y="4857750"/>
            <a:ext cx="0" cy="32385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22" name="">
            <a:extLst xmlns:a="http://schemas.openxmlformats.org/drawingml/2006/main">
              <a:ext uri="{FF2B5EF4-FFF2-40B4-BE49-F238E27FC236}">
                <a16:creationId xmlns:a16="http://schemas.microsoft.com/office/drawing/2014/main" id="{1F76F526-DB39-42FE-BF33-63F877415059}"/>
              </a:ext>
            </a:extLst>
          </p:cNvPr>
          <p:cNvSpPr>
            <a:spLocks xmlns:a="http://schemas.openxmlformats.org/drawingml/2006/main" noGrp="1"/>
          </p:cNvSpPr>
          <p:nvPr/>
        </p:nvSpPr>
        <p:spPr>
          <a:xfrm xmlns:a="http://schemas.openxmlformats.org/drawingml/2006/main">
            <a:off x="1714500" y="43910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90-second auction</a:t>
            </a:r>
          </a:p>
        </p:txBody>
      </p:sp>
      <p:sp>
        <p:nvSpPr>
          <p:cNvPr id="23" name="">
            <a:extLst xmlns:a="http://schemas.openxmlformats.org/drawingml/2006/main">
              <a:ext uri="{FF2B5EF4-FFF2-40B4-BE49-F238E27FC236}">
                <a16:creationId xmlns:a16="http://schemas.microsoft.com/office/drawing/2014/main" id="{B0026267-F654-4F31-BE52-DD9640C2E017}"/>
              </a:ext>
            </a:extLst>
          </p:cNvPr>
          <p:cNvSpPr>
            <a:spLocks xmlns:a="http://schemas.openxmlformats.org/drawingml/2006/main" noGrp="1"/>
          </p:cNvSpPr>
          <p:nvPr/>
        </p:nvSpPr>
        <p:spPr>
          <a:xfrm xmlns:a="http://schemas.openxmlformats.org/drawingml/2006/main">
            <a:off x="1714500" y="46386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KYC bidders compete with funded USDC bids.</a:t>
            </a:r>
          </a:p>
        </p:txBody>
      </p:sp>
      <p:sp>
        <p:nvSpPr>
          <p:cNvPr id="24" name="">
            <a:extLst xmlns:a="http://schemas.openxmlformats.org/drawingml/2006/main">
              <a:ext uri="{FF2B5EF4-FFF2-40B4-BE49-F238E27FC236}">
                <a16:creationId xmlns:a16="http://schemas.microsoft.com/office/drawing/2014/main" id="{3C854637-3B90-4074-BA48-D70E3D396F79}"/>
              </a:ext>
            </a:extLst>
          </p:cNvPr>
          <p:cNvSpPr>
            <a:spLocks xmlns:a="http://schemas.openxmlformats.org/drawingml/2006/main" noGrp="1"/>
          </p:cNvSpPr>
          <p:nvPr/>
        </p:nvSpPr>
        <p:spPr>
          <a:xfrm xmlns:a="http://schemas.openxmlformats.org/drawingml/2006/main">
            <a:off x="1066800" y="5181600"/>
            <a:ext cx="457200" cy="457200"/>
          </a:xfrm>
          <a:prstGeom xmlns:a="http://schemas.openxmlformats.org/drawingml/2006/main" prst="roundRect">
            <a:avLst>
              <a:gd name="adj" fmla="val 50000"/>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74755"/>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8BB5D3C0-AFB1-4D79-8C51-DFD7F67A6223}"/>
              </a:ext>
            </a:extLst>
          </p:cNvPr>
          <p:cNvSpPr>
            <a:spLocks xmlns:a="http://schemas.openxmlformats.org/drawingml/2006/main" noGrp="1"/>
          </p:cNvSpPr>
          <p:nvPr/>
        </p:nvSpPr>
        <p:spPr>
          <a:xfrm xmlns:a="http://schemas.openxmlformats.org/drawingml/2006/main">
            <a:off x="1714500" y="51720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Atomic settlement</a:t>
            </a:r>
          </a:p>
        </p:txBody>
      </p:sp>
      <p:sp>
        <p:nvSpPr>
          <p:cNvPr id="26" name="">
            <a:extLst xmlns:a="http://schemas.openxmlformats.org/drawingml/2006/main">
              <a:ext uri="{FF2B5EF4-FFF2-40B4-BE49-F238E27FC236}">
                <a16:creationId xmlns:a16="http://schemas.microsoft.com/office/drawing/2014/main" id="{EE66F425-9802-4414-A2A7-7E4C08E68E2B}"/>
              </a:ext>
            </a:extLst>
          </p:cNvPr>
          <p:cNvSpPr>
            <a:spLocks xmlns:a="http://schemas.openxmlformats.org/drawingml/2006/main" noGrp="1"/>
          </p:cNvSpPr>
          <p:nvPr/>
        </p:nvSpPr>
        <p:spPr>
          <a:xfrm xmlns:a="http://schemas.openxmlformats.org/drawingml/2006/main">
            <a:off x="1714500" y="54197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Winner receives bonds. Lender receives claim first.</a:t>
            </a:r>
          </a:p>
        </p:txBody>
      </p:sp>
      <p:sp>
        <p:nvSpPr>
          <p:cNvPr id="27" name="">
            <a:extLst xmlns:a="http://schemas.openxmlformats.org/drawingml/2006/main">
              <a:ext uri="{FF2B5EF4-FFF2-40B4-BE49-F238E27FC236}">
                <a16:creationId xmlns:a16="http://schemas.microsoft.com/office/drawing/2014/main" id="{533635A5-F423-4EB4-A234-032FAA22F69B}"/>
              </a:ext>
            </a:extLst>
          </p:cNvPr>
          <p:cNvSpPr>
            <a:spLocks xmlns:a="http://schemas.openxmlformats.org/drawingml/2006/main" noGrp="1"/>
          </p:cNvSpPr>
          <p:nvPr/>
        </p:nvSpPr>
        <p:spPr>
          <a:xfrm xmlns:a="http://schemas.openxmlformats.org/drawingml/2006/main">
            <a:off x="5905500" y="1504950"/>
            <a:ext cx="0" cy="466725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28" name="">
            <a:extLst xmlns:a="http://schemas.openxmlformats.org/drawingml/2006/main">
              <a:ext uri="{FF2B5EF4-FFF2-40B4-BE49-F238E27FC236}">
                <a16:creationId xmlns:a16="http://schemas.microsoft.com/office/drawing/2014/main" id="{3EFF0ACF-ECA8-4FAC-BDB5-AA58810F926E}"/>
              </a:ext>
            </a:extLst>
          </p:cNvPr>
          <p:cNvSpPr>
            <a:spLocks xmlns:a="http://schemas.openxmlformats.org/drawingml/2006/main" noGrp="1"/>
          </p:cNvSpPr>
          <p:nvPr/>
        </p:nvSpPr>
        <p:spPr>
          <a:xfrm xmlns:a="http://schemas.openxmlformats.org/drawingml/2006/main">
            <a:off x="6419850" y="15049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3F7656"/>
                </a:solidFill>
                <a:latin typeface="DIN Condensed"/>
                <a:ea typeface="DIN Condensed"/>
                <a:cs typeface="DIN Condensed"/>
              </a:defRPr>
            </a:pPr>
            <a:r>
              <a:rPr sz="1800" b="1">
                <a:solidFill>
                  <a:srgbClr val="3F7656"/>
                </a:solidFill>
                <a:latin typeface="DIN Condensed"/>
                <a:ea typeface="DIN Condensed"/>
                <a:cs typeface="DIN Condensed"/>
              </a:rPr>
              <a:t>SCORE</a:t>
            </a:r>
          </a:p>
        </p:txBody>
      </p:sp>
      <p:sp>
        <p:nvSpPr>
          <p:cNvPr id="29" name="">
            <a:extLst xmlns:a="http://schemas.openxmlformats.org/drawingml/2006/main">
              <a:ext uri="{FF2B5EF4-FFF2-40B4-BE49-F238E27FC236}">
                <a16:creationId xmlns:a16="http://schemas.microsoft.com/office/drawing/2014/main" id="{16E7A2DA-0260-41A9-9D20-88C32C6E3C86}"/>
              </a:ext>
            </a:extLst>
          </p:cNvPr>
          <p:cNvSpPr>
            <a:spLocks xmlns:a="http://schemas.openxmlformats.org/drawingml/2006/main" noGrp="1"/>
          </p:cNvSpPr>
          <p:nvPr/>
        </p:nvSpPr>
        <p:spPr>
          <a:xfrm xmlns:a="http://schemas.openxmlformats.org/drawingml/2006/main">
            <a:off x="6419850" y="19240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l">
              <a:defRPr sz="1650" b="0">
                <a:solidFill>
                  <a:srgbClr val="171817"/>
                </a:solidFill>
                <a:latin typeface="Helvetica Neue"/>
                <a:ea typeface="Helvetica Neue"/>
                <a:cs typeface="Helvetica Neue"/>
              </a:defRPr>
            </a:pPr>
            <a:r>
              <a:rPr sz="1650" b="0">
                <a:solidFill>
                  <a:srgbClr val="171817"/>
                </a:solidFill>
                <a:latin typeface="Helvetica Neue"/>
                <a:ea typeface="Helvetica Neue"/>
                <a:cs typeface="Helvetica Neue"/>
              </a:rPr>
              <a:t>Players optimize outcomes that matter to a treasury desk.</a:t>
            </a:r>
          </a:p>
        </p:txBody>
      </p:sp>
      <p:sp>
        <p:nvSpPr>
          <p:cNvPr id="30" name="">
            <a:extLst xmlns:a="http://schemas.openxmlformats.org/drawingml/2006/main">
              <a:ext uri="{FF2B5EF4-FFF2-40B4-BE49-F238E27FC236}">
                <a16:creationId xmlns:a16="http://schemas.microsoft.com/office/drawing/2014/main" id="{B14D3D23-06BA-4DA7-A9BA-D82F771BC7C1}"/>
              </a:ext>
            </a:extLst>
          </p:cNvPr>
          <p:cNvSpPr>
            <a:spLocks xmlns:a="http://schemas.openxmlformats.org/drawingml/2006/main" noGrp="1"/>
          </p:cNvSpPr>
          <p:nvPr/>
        </p:nvSpPr>
        <p:spPr>
          <a:xfrm xmlns:a="http://schemas.openxmlformats.org/drawingml/2006/main">
            <a:off x="6419850" y="28003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Collateral efficiency</a:t>
            </a:r>
          </a:p>
        </p:txBody>
      </p:sp>
      <p:sp>
        <p:nvSpPr>
          <p:cNvPr id="31" name="">
            <a:extLst xmlns:a="http://schemas.openxmlformats.org/drawingml/2006/main">
              <a:ext uri="{FF2B5EF4-FFF2-40B4-BE49-F238E27FC236}">
                <a16:creationId xmlns:a16="http://schemas.microsoft.com/office/drawing/2014/main" id="{968E342D-A3DF-4053-A3D6-62B4554F1D62}"/>
              </a:ext>
            </a:extLst>
          </p:cNvPr>
          <p:cNvSpPr>
            <a:spLocks xmlns:a="http://schemas.openxmlformats.org/drawingml/2006/main" noGrp="1"/>
          </p:cNvSpPr>
          <p:nvPr/>
        </p:nvSpPr>
        <p:spPr>
          <a:xfrm xmlns:a="http://schemas.openxmlformats.org/drawingml/2006/main">
            <a:off x="10144125" y="28003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300 pts</a:t>
            </a:r>
          </a:p>
        </p:txBody>
      </p:sp>
      <p:sp>
        <p:nvSpPr>
          <p:cNvPr id="32" name="">
            <a:extLst xmlns:a="http://schemas.openxmlformats.org/drawingml/2006/main">
              <a:ext uri="{FF2B5EF4-FFF2-40B4-BE49-F238E27FC236}">
                <a16:creationId xmlns:a16="http://schemas.microsoft.com/office/drawing/2014/main" id="{D511D004-B611-4DF1-BBF0-1AE64BDCAE90}"/>
              </a:ext>
            </a:extLst>
          </p:cNvPr>
          <p:cNvSpPr>
            <a:spLocks xmlns:a="http://schemas.openxmlformats.org/drawingml/2006/main" noGrp="1"/>
          </p:cNvSpPr>
          <p:nvPr/>
        </p:nvSpPr>
        <p:spPr>
          <a:xfrm xmlns:a="http://schemas.openxmlformats.org/drawingml/2006/main">
            <a:off x="6419850" y="3124200"/>
            <a:ext cx="4667250" cy="133350"/>
          </a:xfrm>
          <a:prstGeom xmlns:a="http://schemas.openxmlformats.org/drawingml/2006/main" prst="rect">
            <a:avLst/>
          </a:prstGeom>
          <a:solidFill xmlns:a="http://schemas.openxmlformats.org/drawingml/2006/main">
            <a:srgbClr val="E7EBDD"/>
          </a:solidFill>
          <a:ln xmlns:a="http://schemas.openxmlformats.org/drawingml/2006/main" w="0">
            <a:solidFill>
              <a:srgbClr val="E7EBDD"/>
            </a:solidFill>
            <a:prstDash val="solid"/>
          </a:ln>
        </p:spPr>
      </p:sp>
      <p:sp>
        <p:nvSpPr>
          <p:cNvPr id="33" name="">
            <a:extLst xmlns:a="http://schemas.openxmlformats.org/drawingml/2006/main">
              <a:ext uri="{FF2B5EF4-FFF2-40B4-BE49-F238E27FC236}">
                <a16:creationId xmlns:a16="http://schemas.microsoft.com/office/drawing/2014/main" id="{002E4402-FB9E-43D5-9919-A8FD1D39C3A1}"/>
              </a:ext>
            </a:extLst>
          </p:cNvPr>
          <p:cNvSpPr>
            <a:spLocks xmlns:a="http://schemas.openxmlformats.org/drawingml/2006/main" noGrp="1"/>
          </p:cNvSpPr>
          <p:nvPr/>
        </p:nvSpPr>
        <p:spPr>
          <a:xfrm xmlns:a="http://schemas.openxmlformats.org/drawingml/2006/main">
            <a:off x="6419850" y="3124200"/>
            <a:ext cx="4667250" cy="133350"/>
          </a:xfrm>
          <a:prstGeom xmlns:a="http://schemas.openxmlformats.org/drawingml/2006/main" prst="rect">
            <a:avLst/>
          </a:prstGeom>
          <a:solidFill xmlns:a="http://schemas.openxmlformats.org/drawingml/2006/main">
            <a:srgbClr val="3F7656"/>
          </a:solidFill>
          <a:ln xmlns:a="http://schemas.openxmlformats.org/drawingml/2006/main" w="0">
            <a:solidFill>
              <a:srgbClr val="3F7656"/>
            </a:solidFill>
            <a:prstDash val="solid"/>
          </a:ln>
        </p:spPr>
      </p:sp>
      <p:sp>
        <p:nvSpPr>
          <p:cNvPr id="34" name="">
            <a:extLst xmlns:a="http://schemas.openxmlformats.org/drawingml/2006/main">
              <a:ext uri="{FF2B5EF4-FFF2-40B4-BE49-F238E27FC236}">
                <a16:creationId xmlns:a16="http://schemas.microsoft.com/office/drawing/2014/main" id="{B47F5E8F-1E40-4109-A7AB-F1922315A2DB}"/>
              </a:ext>
            </a:extLst>
          </p:cNvPr>
          <p:cNvSpPr>
            <a:spLocks xmlns:a="http://schemas.openxmlformats.org/drawingml/2006/main" noGrp="1"/>
          </p:cNvSpPr>
          <p:nvPr/>
        </p:nvSpPr>
        <p:spPr>
          <a:xfrm xmlns:a="http://schemas.openxmlformats.org/drawingml/2006/main">
            <a:off x="6419850" y="3314700"/>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8655D"/>
                </a:solidFill>
                <a:latin typeface="Helvetica Neue"/>
                <a:ea typeface="Helvetica Neue"/>
                <a:cs typeface="Helvetica Neue"/>
              </a:defRPr>
            </a:pPr>
            <a:r>
              <a:rPr sz="1125" b="0">
                <a:solidFill>
                  <a:srgbClr val="58655D"/>
                </a:solidFill>
                <a:latin typeface="Helvetica Neue"/>
                <a:ea typeface="Helvetica Neue"/>
                <a:cs typeface="Helvetica Neue"/>
              </a:rPr>
              <a:t>Lock less market value</a:t>
            </a:r>
          </a:p>
        </p:txBody>
      </p:sp>
      <p:sp>
        <p:nvSpPr>
          <p:cNvPr id="35" name="">
            <a:extLst xmlns:a="http://schemas.openxmlformats.org/drawingml/2006/main">
              <a:ext uri="{FF2B5EF4-FFF2-40B4-BE49-F238E27FC236}">
                <a16:creationId xmlns:a16="http://schemas.microsoft.com/office/drawing/2014/main" id="{09CA4AAC-0394-46B6-88DB-4DBFEA18D27B}"/>
              </a:ext>
            </a:extLst>
          </p:cNvPr>
          <p:cNvSpPr>
            <a:spLocks xmlns:a="http://schemas.openxmlformats.org/drawingml/2006/main" noGrp="1"/>
          </p:cNvSpPr>
          <p:nvPr/>
        </p:nvSpPr>
        <p:spPr>
          <a:xfrm xmlns:a="http://schemas.openxmlformats.org/drawingml/2006/main">
            <a:off x="6419850" y="36385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Funding quality</a:t>
            </a:r>
          </a:p>
        </p:txBody>
      </p:sp>
      <p:sp>
        <p:nvSpPr>
          <p:cNvPr id="36" name="">
            <a:extLst xmlns:a="http://schemas.openxmlformats.org/drawingml/2006/main">
              <a:ext uri="{FF2B5EF4-FFF2-40B4-BE49-F238E27FC236}">
                <a16:creationId xmlns:a16="http://schemas.microsoft.com/office/drawing/2014/main" id="{256FE4D3-0B44-4088-A985-07D9A3F02F38}"/>
              </a:ext>
            </a:extLst>
          </p:cNvPr>
          <p:cNvSpPr>
            <a:spLocks xmlns:a="http://schemas.openxmlformats.org/drawingml/2006/main" noGrp="1"/>
          </p:cNvSpPr>
          <p:nvPr/>
        </p:nvSpPr>
        <p:spPr>
          <a:xfrm xmlns:a="http://schemas.openxmlformats.org/drawingml/2006/main">
            <a:off x="10144125" y="36385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250 pts</a:t>
            </a:r>
          </a:p>
        </p:txBody>
      </p:sp>
      <p:sp>
        <p:nvSpPr>
          <p:cNvPr id="37" name="">
            <a:extLst xmlns:a="http://schemas.openxmlformats.org/drawingml/2006/main">
              <a:ext uri="{FF2B5EF4-FFF2-40B4-BE49-F238E27FC236}">
                <a16:creationId xmlns:a16="http://schemas.microsoft.com/office/drawing/2014/main" id="{2DF05A95-E548-47ED-AC45-8D2099884539}"/>
              </a:ext>
            </a:extLst>
          </p:cNvPr>
          <p:cNvSpPr>
            <a:spLocks xmlns:a="http://schemas.openxmlformats.org/drawingml/2006/main" noGrp="1"/>
          </p:cNvSpPr>
          <p:nvPr/>
        </p:nvSpPr>
        <p:spPr>
          <a:xfrm xmlns:a="http://schemas.openxmlformats.org/drawingml/2006/main">
            <a:off x="6419850" y="3962400"/>
            <a:ext cx="4667250" cy="133350"/>
          </a:xfrm>
          <a:prstGeom xmlns:a="http://schemas.openxmlformats.org/drawingml/2006/main" prst="rect">
            <a:avLst/>
          </a:prstGeom>
          <a:solidFill xmlns:a="http://schemas.openxmlformats.org/drawingml/2006/main">
            <a:srgbClr val="E7EBDD"/>
          </a:solidFill>
          <a:ln xmlns:a="http://schemas.openxmlformats.org/drawingml/2006/main" w="0">
            <a:solidFill>
              <a:srgbClr val="E7EBDD"/>
            </a:solidFill>
            <a:prstDash val="solid"/>
          </a:ln>
        </p:spPr>
      </p:sp>
      <p:sp>
        <p:nvSpPr>
          <p:cNvPr id="38" name="">
            <a:extLst xmlns:a="http://schemas.openxmlformats.org/drawingml/2006/main">
              <a:ext uri="{FF2B5EF4-FFF2-40B4-BE49-F238E27FC236}">
                <a16:creationId xmlns:a16="http://schemas.microsoft.com/office/drawing/2014/main" id="{AD8F15D2-6BED-4756-9CA3-B8B9DB4B5483}"/>
              </a:ext>
            </a:extLst>
          </p:cNvPr>
          <p:cNvSpPr>
            <a:spLocks xmlns:a="http://schemas.openxmlformats.org/drawingml/2006/main" noGrp="1"/>
          </p:cNvSpPr>
          <p:nvPr/>
        </p:nvSpPr>
        <p:spPr>
          <a:xfrm xmlns:a="http://schemas.openxmlformats.org/drawingml/2006/main">
            <a:off x="6419850" y="3962400"/>
            <a:ext cx="3889375" cy="13335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39" name="">
            <a:extLst xmlns:a="http://schemas.openxmlformats.org/drawingml/2006/main">
              <a:ext uri="{FF2B5EF4-FFF2-40B4-BE49-F238E27FC236}">
                <a16:creationId xmlns:a16="http://schemas.microsoft.com/office/drawing/2014/main" id="{6A048D2F-3DC7-4566-87BD-FA3A0460ED1B}"/>
              </a:ext>
            </a:extLst>
          </p:cNvPr>
          <p:cNvSpPr>
            <a:spLocks xmlns:a="http://schemas.openxmlformats.org/drawingml/2006/main" noGrp="1"/>
          </p:cNvSpPr>
          <p:nvPr/>
        </p:nvSpPr>
        <p:spPr>
          <a:xfrm xmlns:a="http://schemas.openxmlformats.org/drawingml/2006/main">
            <a:off x="6419850" y="4152900"/>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8655D"/>
                </a:solidFill>
                <a:latin typeface="Helvetica Neue"/>
                <a:ea typeface="Helvetica Neue"/>
                <a:cs typeface="Helvetica Neue"/>
              </a:defRPr>
            </a:pPr>
            <a:r>
              <a:rPr sz="1125" b="0">
                <a:solidFill>
                  <a:srgbClr val="58655D"/>
                </a:solidFill>
                <a:latin typeface="Helvetica Neue"/>
                <a:ea typeface="Helvetica Neue"/>
                <a:cs typeface="Helvetica Neue"/>
              </a:rPr>
              <a:t>Win a lower valid rate</a:t>
            </a:r>
          </a:p>
        </p:txBody>
      </p:sp>
      <p:sp>
        <p:nvSpPr>
          <p:cNvPr id="40" name="">
            <a:extLst xmlns:a="http://schemas.openxmlformats.org/drawingml/2006/main">
              <a:ext uri="{FF2B5EF4-FFF2-40B4-BE49-F238E27FC236}">
                <a16:creationId xmlns:a16="http://schemas.microsoft.com/office/drawing/2014/main" id="{8F0E7F4A-AABA-45B2-B4F8-DF9C1B3D890E}"/>
              </a:ext>
            </a:extLst>
          </p:cNvPr>
          <p:cNvSpPr>
            <a:spLocks xmlns:a="http://schemas.openxmlformats.org/drawingml/2006/main" noGrp="1"/>
          </p:cNvSpPr>
          <p:nvPr/>
        </p:nvSpPr>
        <p:spPr>
          <a:xfrm xmlns:a="http://schemas.openxmlformats.org/drawingml/2006/main">
            <a:off x="6419850" y="44767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Risk management</a:t>
            </a:r>
          </a:p>
        </p:txBody>
      </p:sp>
      <p:sp>
        <p:nvSpPr>
          <p:cNvPr id="41" name="">
            <a:extLst xmlns:a="http://schemas.openxmlformats.org/drawingml/2006/main">
              <a:ext uri="{FF2B5EF4-FFF2-40B4-BE49-F238E27FC236}">
                <a16:creationId xmlns:a16="http://schemas.microsoft.com/office/drawing/2014/main" id="{AA1D04D1-2E8B-4185-BDEF-2CF39D308507}"/>
              </a:ext>
            </a:extLst>
          </p:cNvPr>
          <p:cNvSpPr>
            <a:spLocks xmlns:a="http://schemas.openxmlformats.org/drawingml/2006/main" noGrp="1"/>
          </p:cNvSpPr>
          <p:nvPr/>
        </p:nvSpPr>
        <p:spPr>
          <a:xfrm xmlns:a="http://schemas.openxmlformats.org/drawingml/2006/main">
            <a:off x="10144125" y="44767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300 pts</a:t>
            </a:r>
          </a:p>
        </p:txBody>
      </p:sp>
      <p:sp>
        <p:nvSpPr>
          <p:cNvPr id="42" name="">
            <a:extLst xmlns:a="http://schemas.openxmlformats.org/drawingml/2006/main">
              <a:ext uri="{FF2B5EF4-FFF2-40B4-BE49-F238E27FC236}">
                <a16:creationId xmlns:a16="http://schemas.microsoft.com/office/drawing/2014/main" id="{FC5CD0B6-9FFB-4815-BB21-B8CEF1FFB36E}"/>
              </a:ext>
            </a:extLst>
          </p:cNvPr>
          <p:cNvSpPr>
            <a:spLocks xmlns:a="http://schemas.openxmlformats.org/drawingml/2006/main" noGrp="1"/>
          </p:cNvSpPr>
          <p:nvPr/>
        </p:nvSpPr>
        <p:spPr>
          <a:xfrm xmlns:a="http://schemas.openxmlformats.org/drawingml/2006/main">
            <a:off x="6419850" y="4800600"/>
            <a:ext cx="4667250" cy="133350"/>
          </a:xfrm>
          <a:prstGeom xmlns:a="http://schemas.openxmlformats.org/drawingml/2006/main" prst="rect">
            <a:avLst/>
          </a:prstGeom>
          <a:solidFill xmlns:a="http://schemas.openxmlformats.org/drawingml/2006/main">
            <a:srgbClr val="E7EBDD"/>
          </a:solidFill>
          <a:ln xmlns:a="http://schemas.openxmlformats.org/drawingml/2006/main" w="0">
            <a:solidFill>
              <a:srgbClr val="E7EBDD"/>
            </a:solidFill>
            <a:prstDash val="solid"/>
          </a:ln>
        </p:spPr>
      </p:sp>
      <p:sp>
        <p:nvSpPr>
          <p:cNvPr id="43" name="">
            <a:extLst xmlns:a="http://schemas.openxmlformats.org/drawingml/2006/main">
              <a:ext uri="{FF2B5EF4-FFF2-40B4-BE49-F238E27FC236}">
                <a16:creationId xmlns:a16="http://schemas.microsoft.com/office/drawing/2014/main" id="{8922EAB6-F77C-4936-8ABF-819BEB037E3D}"/>
              </a:ext>
            </a:extLst>
          </p:cNvPr>
          <p:cNvSpPr>
            <a:spLocks xmlns:a="http://schemas.openxmlformats.org/drawingml/2006/main" noGrp="1"/>
          </p:cNvSpPr>
          <p:nvPr/>
        </p:nvSpPr>
        <p:spPr>
          <a:xfrm xmlns:a="http://schemas.openxmlformats.org/drawingml/2006/main">
            <a:off x="6419850" y="4800600"/>
            <a:ext cx="4667250" cy="13335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44" name="">
            <a:extLst xmlns:a="http://schemas.openxmlformats.org/drawingml/2006/main">
              <a:ext uri="{FF2B5EF4-FFF2-40B4-BE49-F238E27FC236}">
                <a16:creationId xmlns:a16="http://schemas.microsoft.com/office/drawing/2014/main" id="{60927F3B-E024-4E7D-AE01-89DA928A44E2}"/>
              </a:ext>
            </a:extLst>
          </p:cNvPr>
          <p:cNvSpPr>
            <a:spLocks xmlns:a="http://schemas.openxmlformats.org/drawingml/2006/main" noGrp="1"/>
          </p:cNvSpPr>
          <p:nvPr/>
        </p:nvSpPr>
        <p:spPr>
          <a:xfrm xmlns:a="http://schemas.openxmlformats.org/drawingml/2006/main">
            <a:off x="6419850" y="4991100"/>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8655D"/>
                </a:solidFill>
                <a:latin typeface="Helvetica Neue"/>
                <a:ea typeface="Helvetica Neue"/>
                <a:cs typeface="Helvetica Neue"/>
              </a:defRPr>
            </a:pPr>
            <a:r>
              <a:rPr sz="1125" b="0">
                <a:solidFill>
                  <a:srgbClr val="58655D"/>
                </a:solidFill>
                <a:latin typeface="Helvetica Neue"/>
                <a:ea typeface="Helvetica Neue"/>
                <a:cs typeface="Helvetica Neue"/>
              </a:rPr>
              <a:t>Cure quickly or close cleanly</a:t>
            </a:r>
          </a:p>
        </p:txBody>
      </p:sp>
      <p:sp>
        <p:nvSpPr>
          <p:cNvPr id="45" name="">
            <a:extLst xmlns:a="http://schemas.openxmlformats.org/drawingml/2006/main">
              <a:ext uri="{FF2B5EF4-FFF2-40B4-BE49-F238E27FC236}">
                <a16:creationId xmlns:a16="http://schemas.microsoft.com/office/drawing/2014/main" id="{9309A499-CE54-4499-B250-013202723279}"/>
              </a:ext>
            </a:extLst>
          </p:cNvPr>
          <p:cNvSpPr>
            <a:spLocks xmlns:a="http://schemas.openxmlformats.org/drawingml/2006/main" noGrp="1"/>
          </p:cNvSpPr>
          <p:nvPr/>
        </p:nvSpPr>
        <p:spPr>
          <a:xfrm xmlns:a="http://schemas.openxmlformats.org/drawingml/2006/main">
            <a:off x="6419850" y="53149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Compliance</a:t>
            </a:r>
          </a:p>
        </p:txBody>
      </p:sp>
      <p:sp>
        <p:nvSpPr>
          <p:cNvPr id="46" name="">
            <a:extLst xmlns:a="http://schemas.openxmlformats.org/drawingml/2006/main">
              <a:ext uri="{FF2B5EF4-FFF2-40B4-BE49-F238E27FC236}">
                <a16:creationId xmlns:a16="http://schemas.microsoft.com/office/drawing/2014/main" id="{C2D41F1B-9314-428F-B49F-3DC0347F2514}"/>
              </a:ext>
            </a:extLst>
          </p:cNvPr>
          <p:cNvSpPr>
            <a:spLocks xmlns:a="http://schemas.openxmlformats.org/drawingml/2006/main" noGrp="1"/>
          </p:cNvSpPr>
          <p:nvPr/>
        </p:nvSpPr>
        <p:spPr>
          <a:xfrm xmlns:a="http://schemas.openxmlformats.org/drawingml/2006/main">
            <a:off x="10144125" y="53149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150 pts</a:t>
            </a:r>
          </a:p>
        </p:txBody>
      </p:sp>
      <p:sp>
        <p:nvSpPr>
          <p:cNvPr id="47" name="">
            <a:extLst xmlns:a="http://schemas.openxmlformats.org/drawingml/2006/main">
              <a:ext uri="{FF2B5EF4-FFF2-40B4-BE49-F238E27FC236}">
                <a16:creationId xmlns:a16="http://schemas.microsoft.com/office/drawing/2014/main" id="{8091E22C-27A6-4EEB-A383-4EAFE04E7951}"/>
              </a:ext>
            </a:extLst>
          </p:cNvPr>
          <p:cNvSpPr>
            <a:spLocks xmlns:a="http://schemas.openxmlformats.org/drawingml/2006/main" noGrp="1"/>
          </p:cNvSpPr>
          <p:nvPr/>
        </p:nvSpPr>
        <p:spPr>
          <a:xfrm xmlns:a="http://schemas.openxmlformats.org/drawingml/2006/main">
            <a:off x="6419850" y="5638800"/>
            <a:ext cx="4667250" cy="133350"/>
          </a:xfrm>
          <a:prstGeom xmlns:a="http://schemas.openxmlformats.org/drawingml/2006/main" prst="rect">
            <a:avLst/>
          </a:prstGeom>
          <a:solidFill xmlns:a="http://schemas.openxmlformats.org/drawingml/2006/main">
            <a:srgbClr val="E7EBDD"/>
          </a:solidFill>
          <a:ln xmlns:a="http://schemas.openxmlformats.org/drawingml/2006/main" w="0">
            <a:solidFill>
              <a:srgbClr val="E7EBDD"/>
            </a:solidFill>
            <a:prstDash val="solid"/>
          </a:ln>
        </p:spPr>
      </p:sp>
      <p:sp>
        <p:nvSpPr>
          <p:cNvPr id="48" name="">
            <a:extLst xmlns:a="http://schemas.openxmlformats.org/drawingml/2006/main">
              <a:ext uri="{FF2B5EF4-FFF2-40B4-BE49-F238E27FC236}">
                <a16:creationId xmlns:a16="http://schemas.microsoft.com/office/drawing/2014/main" id="{C9B32EFE-5BCB-4533-94FB-AF6FE51D7E6D}"/>
              </a:ext>
            </a:extLst>
          </p:cNvPr>
          <p:cNvSpPr>
            <a:spLocks xmlns:a="http://schemas.openxmlformats.org/drawingml/2006/main" noGrp="1"/>
          </p:cNvSpPr>
          <p:nvPr/>
        </p:nvSpPr>
        <p:spPr>
          <a:xfrm xmlns:a="http://schemas.openxmlformats.org/drawingml/2006/main">
            <a:off x="6419850" y="5638800"/>
            <a:ext cx="2333625" cy="133350"/>
          </a:xfrm>
          <a:prstGeom xmlns:a="http://schemas.openxmlformats.org/drawingml/2006/main" prst="rect">
            <a:avLst/>
          </a:prstGeom>
          <a:solidFill xmlns:a="http://schemas.openxmlformats.org/drawingml/2006/main">
            <a:srgbClr val="AFC3AC"/>
          </a:solidFill>
          <a:ln xmlns:a="http://schemas.openxmlformats.org/drawingml/2006/main" w="0">
            <a:solidFill>
              <a:srgbClr val="AFC3AC"/>
            </a:solidFill>
            <a:prstDash val="solid"/>
          </a:ln>
        </p:spPr>
      </p:sp>
      <p:sp>
        <p:nvSpPr>
          <p:cNvPr id="49" name="">
            <a:extLst xmlns:a="http://schemas.openxmlformats.org/drawingml/2006/main">
              <a:ext uri="{FF2B5EF4-FFF2-40B4-BE49-F238E27FC236}">
                <a16:creationId xmlns:a16="http://schemas.microsoft.com/office/drawing/2014/main" id="{FD4F0E64-8AC2-4A32-95A2-0DC0E602FE36}"/>
              </a:ext>
            </a:extLst>
          </p:cNvPr>
          <p:cNvSpPr>
            <a:spLocks xmlns:a="http://schemas.openxmlformats.org/drawingml/2006/main" noGrp="1"/>
          </p:cNvSpPr>
          <p:nvPr/>
        </p:nvSpPr>
        <p:spPr>
          <a:xfrm xmlns:a="http://schemas.openxmlformats.org/drawingml/2006/main">
            <a:off x="6419850" y="5829300"/>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8655D"/>
                </a:solidFill>
                <a:latin typeface="Helvetica Neue"/>
                <a:ea typeface="Helvetica Neue"/>
                <a:cs typeface="Helvetica Neue"/>
              </a:defRPr>
            </a:pPr>
            <a:r>
              <a:rPr sz="1125" b="0">
                <a:solidFill>
                  <a:srgbClr val="58655D"/>
                </a:solidFill>
                <a:latin typeface="Helvetica Neue"/>
                <a:ea typeface="Helvetica Neue"/>
                <a:cs typeface="Helvetica Neue"/>
              </a:rPr>
              <a:t>Avoid blocked transfers</a:t>
            </a:r>
          </a:p>
        </p:txBody>
      </p:sp>
    </p:spTree>
    <p:extLst>
      <p:ext uri="{BB962C8B-B14F-4D97-AF65-F5344CB8AC3E}">
        <p14:creationId xmlns:p14="http://schemas.microsoft.com/office/powerpoint/2010/main" val="439604883"/>
      </p:ext>
    </p:extLst>
  </p:cSld>
</p:sld>
</file>

<file path=ppt/slides/slide8.xml><?xml version="1.0" encoding="utf-8"?>
<p:sld xmlns:p="http://schemas.openxmlformats.org/presentationml/2006/main">
  <p:cSld>
    <p:bg>
      <p:bgPr>
        <a:solidFill xmlns:a="http://schemas.openxmlformats.org/drawingml/2006/main">
          <a:srgbClr val="F4F2E6"/>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8905E4E-AB27-4831-8F53-3870BBD5DDA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2" name="">
            <a:extLst xmlns:a="http://schemas.openxmlformats.org/drawingml/2006/main">
              <a:ext uri="{FF2B5EF4-FFF2-40B4-BE49-F238E27FC236}">
                <a16:creationId xmlns:a16="http://schemas.microsoft.com/office/drawing/2014/main" id="{949E2466-423D-4ED1-928A-DF6499700DE2}"/>
              </a:ext>
            </a:extLst>
          </p:cNvPr>
          <p:cNvSpPr>
            <a:spLocks xmlns:a="http://schemas.openxmlformats.org/drawingml/2006/main" noGrp="1"/>
          </p:cNvSpPr>
          <p:nvPr/>
        </p:nvSpPr>
        <p:spPr>
          <a:xfrm xmlns:a="http://schemas.openxmlformats.org/drawingml/2006/main">
            <a:off x="438150" y="323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9B57"/>
                </a:solidFill>
                <a:latin typeface="DIN Condensed"/>
                <a:ea typeface="DIN Condensed"/>
                <a:cs typeface="DIN Condensed"/>
              </a:defRPr>
            </a:pPr>
            <a:r>
              <a:rPr sz="1350" b="1">
                <a:solidFill>
                  <a:srgbClr val="E99B57"/>
                </a:solidFill>
                <a:latin typeface="DIN Condensed"/>
                <a:ea typeface="DIN Condensed"/>
                <a:cs typeface="DIN Condensed"/>
              </a:rPr>
              <a:t>08</a:t>
            </a:r>
          </a:p>
        </p:txBody>
      </p:sp>
      <p:sp>
        <p:nvSpPr>
          <p:cNvPr id="3" name="">
            <a:extLst xmlns:a="http://schemas.openxmlformats.org/drawingml/2006/main">
              <a:ext uri="{FF2B5EF4-FFF2-40B4-BE49-F238E27FC236}">
                <a16:creationId xmlns:a16="http://schemas.microsoft.com/office/drawing/2014/main" id="{1B3380DC-28BD-4ADA-98A8-B1DBC2AAAC42}"/>
              </a:ext>
            </a:extLst>
          </p:cNvPr>
          <p:cNvSpPr>
            <a:spLocks xmlns:a="http://schemas.openxmlformats.org/drawingml/2006/main" noGrp="1"/>
          </p:cNvSpPr>
          <p:nvPr/>
        </p:nvSpPr>
        <p:spPr>
          <a:xfrm xmlns:a="http://schemas.openxmlformats.org/drawingml/2006/main">
            <a:off x="1066800" y="24765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71817"/>
                </a:solidFill>
                <a:latin typeface="DIN Condensed"/>
                <a:ea typeface="DIN Condensed"/>
                <a:cs typeface="DIN Condensed"/>
              </a:defRPr>
            </a:pPr>
            <a:r>
              <a:rPr sz="3300" b="1">
                <a:solidFill>
                  <a:srgbClr val="171817"/>
                </a:solidFill>
                <a:latin typeface="DIN Condensed"/>
                <a:ea typeface="DIN Condensed"/>
                <a:cs typeface="DIN Condensed"/>
              </a:rPr>
              <a:t>Two-wallet live demo</a:t>
            </a:r>
          </a:p>
        </p:txBody>
      </p:sp>
      <p:sp>
        <p:nvSpPr>
          <p:cNvPr id="4" name="">
            <a:extLst xmlns:a="http://schemas.openxmlformats.org/drawingml/2006/main">
              <a:ext uri="{FF2B5EF4-FFF2-40B4-BE49-F238E27FC236}">
                <a16:creationId xmlns:a16="http://schemas.microsoft.com/office/drawing/2014/main" id="{AE1A6D8E-9051-4329-A6E1-346673D20F8C}"/>
              </a:ext>
            </a:extLst>
          </p:cNvPr>
          <p:cNvSpPr>
            <a:spLocks xmlns:a="http://schemas.openxmlformats.org/drawingml/2006/main" noGrp="1"/>
          </p:cNvSpPr>
          <p:nvPr/>
        </p:nvSpPr>
        <p:spPr>
          <a:xfrm xmlns:a="http://schemas.openxmlformats.org/drawingml/2006/main">
            <a:off x="1085850" y="8191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8655D"/>
                </a:solidFill>
                <a:latin typeface="Helvetica Neue"/>
                <a:ea typeface="Helvetica Neue"/>
                <a:cs typeface="Helvetica Neue"/>
              </a:defRPr>
            </a:pPr>
            <a:r>
              <a:rPr sz="1425" b="0">
                <a:solidFill>
                  <a:srgbClr val="58655D"/>
                </a:solidFill>
                <a:latin typeface="Helvetica Neue"/>
                <a:ea typeface="Helvetica Neue"/>
                <a:cs typeface="Helvetica Neue"/>
              </a:rPr>
              <a:t>Use only the panels marked live on Hedera testnet.</a:t>
            </a:r>
          </a:p>
        </p:txBody>
      </p:sp>
      <p:sp>
        <p:nvSpPr>
          <p:cNvPr id="5" name="">
            <a:extLst xmlns:a="http://schemas.openxmlformats.org/drawingml/2006/main">
              <a:ext uri="{FF2B5EF4-FFF2-40B4-BE49-F238E27FC236}">
                <a16:creationId xmlns:a16="http://schemas.microsoft.com/office/drawing/2014/main" id="{DEFE45C6-CDC4-4807-AE0A-4071F47271E5}"/>
              </a:ext>
            </a:extLst>
          </p:cNvPr>
          <p:cNvSpPr>
            <a:spLocks xmlns:a="http://schemas.openxmlformats.org/drawingml/2006/main" noGrp="1"/>
          </p:cNvSpPr>
          <p:nvPr/>
        </p:nvSpPr>
        <p:spPr>
          <a:xfrm xmlns:a="http://schemas.openxmlformats.org/drawingml/2006/main">
            <a:off x="11049000" y="3429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DIN Condensed"/>
                <a:ea typeface="DIN Condensed"/>
                <a:cs typeface="DIN Condensed"/>
              </a:defRPr>
            </a:pPr>
            <a:r>
              <a:rPr sz="1350" b="1">
                <a:solidFill>
                  <a:srgbClr val="171817"/>
                </a:solidFill>
                <a:latin typeface="DIN Condensed"/>
                <a:ea typeface="DIN Condensed"/>
                <a:cs typeface="DIN Condensed"/>
              </a:rPr>
              <a:t>SWAN</a:t>
            </a:r>
          </a:p>
        </p:txBody>
      </p:sp>
      <p:sp>
        <p:nvSpPr>
          <p:cNvPr id="6" name="">
            <a:extLst xmlns:a="http://schemas.openxmlformats.org/drawingml/2006/main">
              <a:ext uri="{FF2B5EF4-FFF2-40B4-BE49-F238E27FC236}">
                <a16:creationId xmlns:a16="http://schemas.microsoft.com/office/drawing/2014/main" id="{6FCB049F-9F85-4E3F-B3D2-AE5E69EF5C52}"/>
              </a:ext>
            </a:extLst>
          </p:cNvPr>
          <p:cNvSpPr>
            <a:spLocks xmlns:a="http://schemas.openxmlformats.org/drawingml/2006/main" noGrp="1"/>
          </p:cNvSpPr>
          <p:nvPr/>
        </p:nvSpPr>
        <p:spPr>
          <a:xfrm xmlns:a="http://schemas.openxmlformats.org/drawingml/2006/main">
            <a:off x="1066800" y="1162050"/>
            <a:ext cx="10668000" cy="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7" name="">
            <a:extLst xmlns:a="http://schemas.openxmlformats.org/drawingml/2006/main">
              <a:ext uri="{FF2B5EF4-FFF2-40B4-BE49-F238E27FC236}">
                <a16:creationId xmlns:a16="http://schemas.microsoft.com/office/drawing/2014/main" id="{57AC8EE8-1837-416F-BD9D-997486681BB5}"/>
              </a:ext>
            </a:extLst>
          </p:cNvPr>
          <p:cNvSpPr>
            <a:spLocks xmlns:a="http://schemas.openxmlformats.org/drawingml/2006/main" noGrp="1"/>
          </p:cNvSpPr>
          <p:nvPr/>
        </p:nvSpPr>
        <p:spPr>
          <a:xfrm xmlns:a="http://schemas.openxmlformats.org/drawingml/2006/main">
            <a:off x="1066800" y="1447800"/>
            <a:ext cx="10458450" cy="628650"/>
          </a:xfrm>
          <a:prstGeom xmlns:a="http://schemas.openxmlformats.org/drawingml/2006/main" prst="rect">
            <a:avLst/>
          </a:prstGeom>
          <a:solidFill xmlns:a="http://schemas.openxmlformats.org/drawingml/2006/main">
            <a:srgbClr val="171817"/>
          </a:solidFill>
          <a:ln xmlns:a="http://schemas.openxmlformats.org/drawingml/2006/main" w="0">
            <a:solidFill>
              <a:srgbClr val="171817"/>
            </a:solidFill>
            <a:prstDash val="solid"/>
          </a:ln>
        </p:spPr>
      </p:sp>
      <p:sp>
        <p:nvSpPr>
          <p:cNvPr id="8" name="">
            <a:extLst xmlns:a="http://schemas.openxmlformats.org/drawingml/2006/main">
              <a:ext uri="{FF2B5EF4-FFF2-40B4-BE49-F238E27FC236}">
                <a16:creationId xmlns:a16="http://schemas.microsoft.com/office/drawing/2014/main" id="{EB0D6A54-A583-4699-A9AE-0A4057587213}"/>
              </a:ext>
            </a:extLst>
          </p:cNvPr>
          <p:cNvSpPr>
            <a:spLocks xmlns:a="http://schemas.openxmlformats.org/drawingml/2006/main" noGrp="1"/>
          </p:cNvSpPr>
          <p:nvPr/>
        </p:nvSpPr>
        <p:spPr>
          <a:xfrm xmlns:a="http://schemas.openxmlformats.org/drawingml/2006/main">
            <a:off x="1333500" y="16287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E99B57"/>
                </a:solidFill>
                <a:latin typeface="DIN Condensed"/>
                <a:ea typeface="DIN Condensed"/>
                <a:cs typeface="DIN Condensed"/>
              </a:defRPr>
            </a:pPr>
            <a:r>
              <a:rPr sz="1500" b="1">
                <a:solidFill>
                  <a:srgbClr val="E99B57"/>
                </a:solidFill>
                <a:latin typeface="DIN Condensed"/>
                <a:ea typeface="DIN Condensed"/>
                <a:cs typeface="DIN Condensed"/>
              </a:rPr>
              <a:t>WALLET A</a:t>
            </a:r>
          </a:p>
        </p:txBody>
      </p:sp>
      <p:sp>
        <p:nvSpPr>
          <p:cNvPr id="9" name="">
            <a:extLst xmlns:a="http://schemas.openxmlformats.org/drawingml/2006/main">
              <a:ext uri="{FF2B5EF4-FFF2-40B4-BE49-F238E27FC236}">
                <a16:creationId xmlns:a16="http://schemas.microsoft.com/office/drawing/2014/main" id="{928D8637-DBCA-4E76-AE6C-733EDE510DBC}"/>
              </a:ext>
            </a:extLst>
          </p:cNvPr>
          <p:cNvSpPr>
            <a:spLocks xmlns:a="http://schemas.openxmlformats.org/drawingml/2006/main" noGrp="1"/>
          </p:cNvSpPr>
          <p:nvPr/>
        </p:nvSpPr>
        <p:spPr>
          <a:xfrm xmlns:a="http://schemas.openxmlformats.org/drawingml/2006/main">
            <a:off x="2571750" y="162877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4F2E6"/>
                </a:solidFill>
                <a:latin typeface="Helvetica Neue"/>
                <a:ea typeface="Helvetica Neue"/>
                <a:cs typeface="Helvetica Neue"/>
              </a:defRPr>
            </a:pPr>
            <a:r>
              <a:rPr sz="1350" b="0">
                <a:solidFill>
                  <a:srgbClr val="F4F2E6"/>
                </a:solidFill>
                <a:latin typeface="Helvetica Neue"/>
                <a:ea typeface="Helvetica Neue"/>
                <a:cs typeface="Helvetica Neue"/>
              </a:rPr>
              <a:t>borrower, reviewer, and price signer</a:t>
            </a:r>
          </a:p>
        </p:txBody>
      </p:sp>
      <p:sp>
        <p:nvSpPr>
          <p:cNvPr id="10" name="">
            <a:extLst xmlns:a="http://schemas.openxmlformats.org/drawingml/2006/main">
              <a:ext uri="{FF2B5EF4-FFF2-40B4-BE49-F238E27FC236}">
                <a16:creationId xmlns:a16="http://schemas.microsoft.com/office/drawing/2014/main" id="{D55FF266-4EE8-45AD-9058-10B96A07084A}"/>
              </a:ext>
            </a:extLst>
          </p:cNvPr>
          <p:cNvSpPr>
            <a:spLocks xmlns:a="http://schemas.openxmlformats.org/drawingml/2006/main" noGrp="1"/>
          </p:cNvSpPr>
          <p:nvPr/>
        </p:nvSpPr>
        <p:spPr>
          <a:xfrm xmlns:a="http://schemas.openxmlformats.org/drawingml/2006/main">
            <a:off x="6553200" y="16287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A9C1CE"/>
                </a:solidFill>
                <a:latin typeface="DIN Condensed"/>
                <a:ea typeface="DIN Condensed"/>
                <a:cs typeface="DIN Condensed"/>
              </a:defRPr>
            </a:pPr>
            <a:r>
              <a:rPr sz="1500" b="1">
                <a:solidFill>
                  <a:srgbClr val="A9C1CE"/>
                </a:solidFill>
                <a:latin typeface="DIN Condensed"/>
                <a:ea typeface="DIN Condensed"/>
                <a:cs typeface="DIN Condensed"/>
              </a:rPr>
              <a:t>WALLET B</a:t>
            </a:r>
          </a:p>
        </p:txBody>
      </p:sp>
      <p:sp>
        <p:nvSpPr>
          <p:cNvPr id="11" name="">
            <a:extLst xmlns:a="http://schemas.openxmlformats.org/drawingml/2006/main">
              <a:ext uri="{FF2B5EF4-FFF2-40B4-BE49-F238E27FC236}">
                <a16:creationId xmlns:a16="http://schemas.microsoft.com/office/drawing/2014/main" id="{56376DE8-5C4B-451A-ACAD-EAC0F585B072}"/>
              </a:ext>
            </a:extLst>
          </p:cNvPr>
          <p:cNvSpPr>
            <a:spLocks xmlns:a="http://schemas.openxmlformats.org/drawingml/2006/main" noGrp="1"/>
          </p:cNvSpPr>
          <p:nvPr/>
        </p:nvSpPr>
        <p:spPr>
          <a:xfrm xmlns:a="http://schemas.openxmlformats.org/drawingml/2006/main">
            <a:off x="7791450" y="16287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4F2E6"/>
                </a:solidFill>
                <a:latin typeface="Helvetica Neue"/>
                <a:ea typeface="Helvetica Neue"/>
                <a:cs typeface="Helvetica Neue"/>
              </a:defRPr>
            </a:pPr>
            <a:r>
              <a:rPr sz="1350" b="0">
                <a:solidFill>
                  <a:srgbClr val="F4F2E6"/>
                </a:solidFill>
                <a:latin typeface="Helvetica Neue"/>
                <a:ea typeface="Helvetica Neue"/>
                <a:cs typeface="Helvetica Neue"/>
              </a:rPr>
              <a:t>lender and eligible bidder</a:t>
            </a:r>
          </a:p>
        </p:txBody>
      </p:sp>
      <p:sp>
        <p:nvSpPr>
          <p:cNvPr id="12" name="">
            <a:extLst xmlns:a="http://schemas.openxmlformats.org/drawingml/2006/main">
              <a:ext uri="{FF2B5EF4-FFF2-40B4-BE49-F238E27FC236}">
                <a16:creationId xmlns:a16="http://schemas.microsoft.com/office/drawing/2014/main" id="{D5AA0352-31BF-4991-9F4E-D73C4CDB787C}"/>
              </a:ext>
            </a:extLst>
          </p:cNvPr>
          <p:cNvSpPr>
            <a:spLocks xmlns:a="http://schemas.openxmlformats.org/drawingml/2006/main" noGrp="1"/>
          </p:cNvSpPr>
          <p:nvPr/>
        </p:nvSpPr>
        <p:spPr>
          <a:xfrm xmlns:a="http://schemas.openxmlformats.org/drawingml/2006/main">
            <a:off x="781050" y="2571750"/>
            <a:ext cx="3048000" cy="1066800"/>
          </a:xfrm>
          <a:prstGeom xmlns:a="http://schemas.openxmlformats.org/drawingml/2006/main" prst="roundRect">
            <a:avLst>
              <a:gd name="adj" fmla="val 12500"/>
            </a:avLst>
          </a:prstGeom>
          <a:solidFill xmlns:a="http://schemas.openxmlformats.org/drawingml/2006/main">
            <a:srgbClr val="E7EBDD"/>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BOOK</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B requests both roles</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A approves KYC</a:t>
            </a:r>
          </a:p>
        </p:txBody>
      </p:sp>
      <p:sp>
        <p:nvSpPr>
          <p:cNvPr id="13" name="">
            <a:extLst xmlns:a="http://schemas.openxmlformats.org/drawingml/2006/main">
              <a:ext uri="{FF2B5EF4-FFF2-40B4-BE49-F238E27FC236}">
                <a16:creationId xmlns:a16="http://schemas.microsoft.com/office/drawing/2014/main" id="{54AE7786-8BB6-4B4F-88EF-B6776EEA4063}"/>
              </a:ext>
            </a:extLst>
          </p:cNvPr>
          <p:cNvSpPr>
            <a:spLocks xmlns:a="http://schemas.openxmlformats.org/drawingml/2006/main" noGrp="1"/>
          </p:cNvSpPr>
          <p:nvPr/>
        </p:nvSpPr>
        <p:spPr>
          <a:xfrm xmlns:a="http://schemas.openxmlformats.org/drawingml/2006/main">
            <a:off x="4572000" y="2571750"/>
            <a:ext cx="3048000" cy="1066800"/>
          </a:xfrm>
          <a:prstGeom xmlns:a="http://schemas.openxmlformats.org/drawingml/2006/main" prst="roundRect">
            <a:avLst>
              <a:gd name="adj" fmla="val 12500"/>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BONDS</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A loads and approves basket</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A signs prices and requests</a:t>
            </a:r>
          </a:p>
        </p:txBody>
      </p:sp>
      <p:sp>
        <p:nvSpPr>
          <p:cNvPr id="14" name="">
            <a:extLst xmlns:a="http://schemas.openxmlformats.org/drawingml/2006/main">
              <a:ext uri="{FF2B5EF4-FFF2-40B4-BE49-F238E27FC236}">
                <a16:creationId xmlns:a16="http://schemas.microsoft.com/office/drawing/2014/main" id="{B2117093-FDC7-4E76-8E5D-CA3369F3BB4C}"/>
              </a:ext>
            </a:extLst>
          </p:cNvPr>
          <p:cNvSpPr>
            <a:spLocks xmlns:a="http://schemas.openxmlformats.org/drawingml/2006/main" noGrp="1"/>
          </p:cNvSpPr>
          <p:nvPr/>
        </p:nvSpPr>
        <p:spPr>
          <a:xfrm xmlns:a="http://schemas.openxmlformats.org/drawingml/2006/main">
            <a:off x="8362950" y="2571750"/>
            <a:ext cx="3048000" cy="1066800"/>
          </a:xfrm>
          <a:prstGeom xmlns:a="http://schemas.openxmlformats.org/drawingml/2006/main" prst="roundRect">
            <a:avLst>
              <a:gd name="adj" fmla="val 12500"/>
            </a:avLst>
          </a:prstGeom>
          <a:solidFill xmlns:a="http://schemas.openxmlformats.org/drawingml/2006/main">
            <a:srgbClr val="A9C1CE"/>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91457"/>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POND</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B approves 3 USDC and offers 4.10%</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Open after 3 minutes</a:t>
            </a:r>
          </a:p>
        </p:txBody>
      </p:sp>
      <p:cxnSp>
        <p:nvCxnSpPr>
          <p:cNvPr id="41" name=""/>
          <p:cNvCxnSpPr>
            <a:stCxn xmlns:a="http://schemas.openxmlformats.org/drawingml/2006/main" id="12" idx="3"/>
            <a:endCxn xmlns:a="http://schemas.openxmlformats.org/drawingml/2006/main" id="13" idx="1"/>
          </p:cNvCxnSpPr>
          <p:nvPr/>
        </p:nvCxnSpPr>
        <p:spPr>
          <a:xfrm xmlns:a="http://schemas.openxmlformats.org/drawingml/2006/main">
            <a:off x="3829050" y="3105150"/>
            <a:ext cx="742950" cy="0"/>
          </a:xfrm>
          <a:prstGeom xmlns:a="http://schemas.openxmlformats.org/drawingml/2006/main" prst="straightConnector1">
            <a:avLst/>
          </a:prstGeom>
          <a:ln xmlns:a="http://schemas.openxmlformats.org/drawingml/2006/main" w="19050">
            <a:solidFill>
              <a:srgbClr val="171817"/>
            </a:solidFill>
            <a:prstDash val="solid"/>
            <a:tailEnd type="arrow" w="med" len="med"/>
          </a:ln>
        </p:spPr>
      </p:cxnSp>
      <p:cxnSp>
        <p:nvCxnSpPr>
          <p:cNvPr id="42" name=""/>
          <p:cNvCxnSpPr>
            <a:stCxn xmlns:a="http://schemas.openxmlformats.org/drawingml/2006/main" id="13" idx="3"/>
            <a:endCxn xmlns:a="http://schemas.openxmlformats.org/drawingml/2006/main" id="14" idx="1"/>
          </p:cNvCxnSpPr>
          <p:nvPr/>
        </p:nvCxnSpPr>
        <p:spPr>
          <a:xfrm xmlns:a="http://schemas.openxmlformats.org/drawingml/2006/main">
            <a:off x="7620000" y="3105150"/>
            <a:ext cx="742950" cy="0"/>
          </a:xfrm>
          <a:prstGeom xmlns:a="http://schemas.openxmlformats.org/drawingml/2006/main" prst="straightConnector1">
            <a:avLst/>
          </a:prstGeom>
          <a:ln xmlns:a="http://schemas.openxmlformats.org/drawingml/2006/main" w="19050">
            <a:solidFill>
              <a:srgbClr val="171817"/>
            </a:solidFill>
            <a:prstDash val="solid"/>
            <a:tailEnd type="arrow" w="med" len="med"/>
          </a:ln>
        </p:spPr>
      </p:cxnSp>
      <p:sp>
        <p:nvSpPr>
          <p:cNvPr id="17" name="">
            <a:extLst xmlns:a="http://schemas.openxmlformats.org/drawingml/2006/main">
              <a:ext uri="{FF2B5EF4-FFF2-40B4-BE49-F238E27FC236}">
                <a16:creationId xmlns:a16="http://schemas.microsoft.com/office/drawing/2014/main" id="{25C2FB50-F8C4-4F9C-8490-95EAB7029810}"/>
              </a:ext>
            </a:extLst>
          </p:cNvPr>
          <p:cNvSpPr>
            <a:spLocks xmlns:a="http://schemas.openxmlformats.org/drawingml/2006/main" noGrp="1"/>
          </p:cNvSpPr>
          <p:nvPr/>
        </p:nvSpPr>
        <p:spPr>
          <a:xfrm xmlns:a="http://schemas.openxmlformats.org/drawingml/2006/main">
            <a:off x="781050" y="4667250"/>
            <a:ext cx="3048000" cy="1066800"/>
          </a:xfrm>
          <a:prstGeom xmlns:a="http://schemas.openxmlformats.org/drawingml/2006/main" prst="roundRect">
            <a:avLst>
              <a:gd name="adj" fmla="val 12500"/>
            </a:avLst>
          </a:prstGeom>
          <a:solidFill xmlns:a="http://schemas.openxmlformats.org/drawingml/2006/main">
            <a:srgbClr val="E7EBDD"/>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BOOK</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Show contract links and</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HashScan receipts</a:t>
            </a:r>
          </a:p>
        </p:txBody>
      </p:sp>
      <p:sp>
        <p:nvSpPr>
          <p:cNvPr id="18" name="">
            <a:extLst xmlns:a="http://schemas.openxmlformats.org/drawingml/2006/main">
              <a:ext uri="{FF2B5EF4-FFF2-40B4-BE49-F238E27FC236}">
                <a16:creationId xmlns:a16="http://schemas.microsoft.com/office/drawing/2014/main" id="{87D7E23C-FB19-4E32-B59C-4305B3BC78E9}"/>
              </a:ext>
            </a:extLst>
          </p:cNvPr>
          <p:cNvSpPr>
            <a:spLocks xmlns:a="http://schemas.openxmlformats.org/drawingml/2006/main" noGrp="1"/>
          </p:cNvSpPr>
          <p:nvPr/>
        </p:nvSpPr>
        <p:spPr>
          <a:xfrm xmlns:a="http://schemas.openxmlformats.org/drawingml/2006/main">
            <a:off x="4572000" y="4667250"/>
            <a:ext cx="3048000" cy="1066800"/>
          </a:xfrm>
          <a:prstGeom xmlns:a="http://schemas.openxmlformats.org/drawingml/2006/main" prst="roundRect">
            <a:avLst>
              <a:gd name="adj" fmla="val 12500"/>
            </a:avLst>
          </a:prstGeom>
          <a:solidFill xmlns:a="http://schemas.openxmlformats.org/drawingml/2006/main">
            <a:srgbClr val="F4D6B9"/>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91457"/>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SALE</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A refreshes prices; B routes default</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A bids; close after 90 seconds</a:t>
            </a:r>
          </a:p>
        </p:txBody>
      </p:sp>
      <p:sp>
        <p:nvSpPr>
          <p:cNvPr id="19" name="">
            <a:extLst xmlns:a="http://schemas.openxmlformats.org/drawingml/2006/main">
              <a:ext uri="{FF2B5EF4-FFF2-40B4-BE49-F238E27FC236}">
                <a16:creationId xmlns:a16="http://schemas.microsoft.com/office/drawing/2014/main" id="{93D90974-5105-4F63-BD1C-42D281D645A7}"/>
              </a:ext>
            </a:extLst>
          </p:cNvPr>
          <p:cNvSpPr>
            <a:spLocks xmlns:a="http://schemas.openxmlformats.org/drawingml/2006/main" noGrp="1"/>
          </p:cNvSpPr>
          <p:nvPr/>
        </p:nvSpPr>
        <p:spPr>
          <a:xfrm xmlns:a="http://schemas.openxmlformats.org/drawingml/2006/main">
            <a:off x="8362950" y="4667250"/>
            <a:ext cx="3048000" cy="1066800"/>
          </a:xfrm>
          <a:prstGeom xmlns:a="http://schemas.openxmlformats.org/drawingml/2006/main" prst="roundRect">
            <a:avLst>
              <a:gd name="adj" fmla="val 12500"/>
            </a:avLst>
          </a:prstGeom>
          <a:solidFill xmlns:a="http://schemas.openxmlformats.org/drawingml/2006/main">
            <a:srgbClr val="EAC0B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CARE</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A triggers storm</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Repay 0.5 or wait 5 minutes</a:t>
            </a:r>
          </a:p>
        </p:txBody>
      </p:sp>
      <p:cxnSp>
        <p:nvCxnSpPr>
          <p:cNvPr id="46" name=""/>
          <p:cNvCxnSpPr>
            <a:stCxn xmlns:a="http://schemas.openxmlformats.org/drawingml/2006/main" id="14" idx="2"/>
            <a:endCxn xmlns:a="http://schemas.openxmlformats.org/drawingml/2006/main" id="19" idx="0"/>
          </p:cNvCxnSpPr>
          <p:nvPr/>
        </p:nvCxnSpPr>
        <p:spPr>
          <a:xfrm xmlns:a="http://schemas.openxmlformats.org/drawingml/2006/main">
            <a:off x="9886950" y="3638550"/>
            <a:ext cx="0" cy="1028700"/>
          </a:xfrm>
          <a:prstGeom xmlns:a="http://schemas.openxmlformats.org/drawingml/2006/main" prst="straightConnector1">
            <a:avLst/>
          </a:prstGeom>
          <a:ln xmlns:a="http://schemas.openxmlformats.org/drawingml/2006/main" w="19050">
            <a:solidFill>
              <a:srgbClr val="171817"/>
            </a:solidFill>
            <a:prstDash val="solid"/>
            <a:tailEnd type="arrow" w="med" len="med"/>
          </a:ln>
        </p:spPr>
      </p:cxnSp>
      <p:cxnSp>
        <p:nvCxnSpPr>
          <p:cNvPr id="47" name=""/>
          <p:cNvCxnSpPr>
            <a:stCxn xmlns:a="http://schemas.openxmlformats.org/drawingml/2006/main" id="19" idx="1"/>
            <a:endCxn xmlns:a="http://schemas.openxmlformats.org/drawingml/2006/main" id="18" idx="3"/>
          </p:cNvCxnSpPr>
          <p:nvPr/>
        </p:nvCxnSpPr>
        <p:spPr>
          <a:xfrm xmlns:a="http://schemas.openxmlformats.org/drawingml/2006/main" flipH="1">
            <a:off x="7620000" y="5200650"/>
            <a:ext cx="742950" cy="0"/>
          </a:xfrm>
          <a:prstGeom xmlns:a="http://schemas.openxmlformats.org/drawingml/2006/main" prst="straightConnector1">
            <a:avLst/>
          </a:prstGeom>
          <a:ln xmlns:a="http://schemas.openxmlformats.org/drawingml/2006/main" w="19050">
            <a:solidFill>
              <a:srgbClr val="171817"/>
            </a:solidFill>
            <a:prstDash val="solid"/>
            <a:tailEnd type="arrow" w="med" len="med"/>
          </a:ln>
        </p:spPr>
      </p:cxnSp>
      <p:cxnSp>
        <p:nvCxnSpPr>
          <p:cNvPr id="48" name=""/>
          <p:cNvCxnSpPr>
            <a:stCxn xmlns:a="http://schemas.openxmlformats.org/drawingml/2006/main" id="18" idx="1"/>
            <a:endCxn xmlns:a="http://schemas.openxmlformats.org/drawingml/2006/main" id="17" idx="3"/>
          </p:cNvCxnSpPr>
          <p:nvPr/>
        </p:nvCxnSpPr>
        <p:spPr>
          <a:xfrm xmlns:a="http://schemas.openxmlformats.org/drawingml/2006/main" flipH="1">
            <a:off x="3829050" y="5200650"/>
            <a:ext cx="742950" cy="0"/>
          </a:xfrm>
          <a:prstGeom xmlns:a="http://schemas.openxmlformats.org/drawingml/2006/main" prst="straightConnector1">
            <a:avLst/>
          </a:prstGeom>
          <a:ln xmlns:a="http://schemas.openxmlformats.org/drawingml/2006/main" w="19050">
            <a:solidFill>
              <a:srgbClr val="171817"/>
            </a:solidFill>
            <a:prstDash val="solid"/>
            <a:tailEnd type="arrow" w="med" len="med"/>
          </a:ln>
        </p:spPr>
      </p:cxnSp>
      <p:sp>
        <p:nvSpPr>
          <p:cNvPr id="23" name="">
            <a:extLst xmlns:a="http://schemas.openxmlformats.org/drawingml/2006/main">
              <a:ext uri="{FF2B5EF4-FFF2-40B4-BE49-F238E27FC236}">
                <a16:creationId xmlns:a16="http://schemas.microsoft.com/office/drawing/2014/main" id="{B777F62D-84C8-4995-A3C6-5B47570692D6}"/>
              </a:ext>
            </a:extLst>
          </p:cNvPr>
          <p:cNvSpPr>
            <a:spLocks xmlns:a="http://schemas.openxmlformats.org/drawingml/2006/main" noGrp="1"/>
          </p:cNvSpPr>
          <p:nvPr/>
        </p:nvSpPr>
        <p:spPr>
          <a:xfrm xmlns:a="http://schemas.openxmlformats.org/drawingml/2006/main">
            <a:off x="8439150" y="5886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F7656"/>
                </a:solidFill>
                <a:latin typeface="Helvetica Neue"/>
                <a:ea typeface="Helvetica Neue"/>
                <a:cs typeface="Helvetica Neue"/>
              </a:defRPr>
            </a:pPr>
            <a:r>
              <a:rPr sz="1200" b="1">
                <a:solidFill>
                  <a:srgbClr val="3F7656"/>
                </a:solidFill>
                <a:latin typeface="Helvetica Neue"/>
                <a:ea typeface="Helvetica Neue"/>
                <a:cs typeface="Helvetica Neue"/>
              </a:rPr>
              <a:t>Healthy path</a:t>
            </a:r>
          </a:p>
        </p:txBody>
      </p:sp>
      <p:sp>
        <p:nvSpPr>
          <p:cNvPr id="24" name="">
            <a:extLst xmlns:a="http://schemas.openxmlformats.org/drawingml/2006/main">
              <a:ext uri="{FF2B5EF4-FFF2-40B4-BE49-F238E27FC236}">
                <a16:creationId xmlns:a16="http://schemas.microsoft.com/office/drawing/2014/main" id="{F55648A1-D5CB-4804-A6C0-01247E225164}"/>
              </a:ext>
            </a:extLst>
          </p:cNvPr>
          <p:cNvSpPr>
            <a:spLocks xmlns:a="http://schemas.openxmlformats.org/drawingml/2006/main" noGrp="1"/>
          </p:cNvSpPr>
          <p:nvPr/>
        </p:nvSpPr>
        <p:spPr>
          <a:xfrm xmlns:a="http://schemas.openxmlformats.org/drawingml/2006/main">
            <a:off x="9572625" y="5886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3F7656"/>
                </a:solidFill>
                <a:latin typeface="Helvetica Neue"/>
                <a:ea typeface="Helvetica Neue"/>
                <a:cs typeface="Helvetica Neue"/>
              </a:defRPr>
            </a:pPr>
            <a:r>
              <a:rPr sz="1200" b="0">
                <a:solidFill>
                  <a:srgbClr val="3F7656"/>
                </a:solidFill>
                <a:latin typeface="Helvetica Neue"/>
                <a:ea typeface="Helvetica Neue"/>
                <a:cs typeface="Helvetica Neue"/>
              </a:rPr>
              <a:t>repay → active</a:t>
            </a:r>
          </a:p>
        </p:txBody>
      </p:sp>
      <p:sp>
        <p:nvSpPr>
          <p:cNvPr id="25" name="">
            <a:extLst xmlns:a="http://schemas.openxmlformats.org/drawingml/2006/main">
              <a:ext uri="{FF2B5EF4-FFF2-40B4-BE49-F238E27FC236}">
                <a16:creationId xmlns:a16="http://schemas.microsoft.com/office/drawing/2014/main" id="{5891D2A2-16A0-4E0D-AD9A-95375C95E843}"/>
              </a:ext>
            </a:extLst>
          </p:cNvPr>
          <p:cNvSpPr>
            <a:spLocks xmlns:a="http://schemas.openxmlformats.org/drawingml/2006/main" noGrp="1"/>
          </p:cNvSpPr>
          <p:nvPr/>
        </p:nvSpPr>
        <p:spPr>
          <a:xfrm xmlns:a="http://schemas.openxmlformats.org/drawingml/2006/main">
            <a:off x="4572000" y="5886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B85B55"/>
                </a:solidFill>
                <a:latin typeface="Helvetica Neue"/>
                <a:ea typeface="Helvetica Neue"/>
                <a:cs typeface="Helvetica Neue"/>
              </a:defRPr>
            </a:pPr>
            <a:r>
              <a:rPr sz="1200" b="1">
                <a:solidFill>
                  <a:srgbClr val="B85B55"/>
                </a:solidFill>
                <a:latin typeface="Helvetica Neue"/>
                <a:ea typeface="Helvetica Neue"/>
                <a:cs typeface="Helvetica Neue"/>
              </a:rPr>
              <a:t>Default path</a:t>
            </a:r>
          </a:p>
        </p:txBody>
      </p:sp>
      <p:sp>
        <p:nvSpPr>
          <p:cNvPr id="26" name="">
            <a:extLst xmlns:a="http://schemas.openxmlformats.org/drawingml/2006/main">
              <a:ext uri="{FF2B5EF4-FFF2-40B4-BE49-F238E27FC236}">
                <a16:creationId xmlns:a16="http://schemas.microsoft.com/office/drawing/2014/main" id="{E7152750-A2A1-44AB-B0E0-9ED1E59CA962}"/>
              </a:ext>
            </a:extLst>
          </p:cNvPr>
          <p:cNvSpPr>
            <a:spLocks xmlns:a="http://schemas.openxmlformats.org/drawingml/2006/main" noGrp="1"/>
          </p:cNvSpPr>
          <p:nvPr/>
        </p:nvSpPr>
        <p:spPr>
          <a:xfrm xmlns:a="http://schemas.openxmlformats.org/drawingml/2006/main">
            <a:off x="5715000" y="5886450"/>
            <a:ext cx="1666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B85B55"/>
                </a:solidFill>
                <a:latin typeface="Helvetica Neue"/>
                <a:ea typeface="Helvetica Neue"/>
                <a:cs typeface="Helvetica Neue"/>
              </a:defRPr>
            </a:pPr>
            <a:r>
              <a:rPr sz="1200" b="0">
                <a:solidFill>
                  <a:srgbClr val="B85B55"/>
                </a:solidFill>
                <a:latin typeface="Helvetica Neue"/>
                <a:ea typeface="Helvetica Neue"/>
                <a:cs typeface="Helvetica Neue"/>
              </a:rPr>
              <a:t>do not cure → Sale</a:t>
            </a:r>
          </a:p>
        </p:txBody>
      </p:sp>
    </p:spTree>
    <p:extLst>
      <p:ext uri="{BB962C8B-B14F-4D97-AF65-F5344CB8AC3E}">
        <p14:creationId xmlns:p14="http://schemas.microsoft.com/office/powerpoint/2010/main" val="19243708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2026-09-13T14:30:01.1890000Z</dcterms:created>
  <dcterms:modified xsi:type="dcterms:W3CDTF">2026-09-13T14:30:01.1890000Z</dcterms:modified>
</coreProperties>
</file>